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1"/>
  </p:notesMasterIdLst>
  <p:sldIdLst>
    <p:sldId id="260" r:id="rId5"/>
    <p:sldId id="263" r:id="rId6"/>
    <p:sldId id="262" r:id="rId7"/>
    <p:sldId id="273" r:id="rId8"/>
    <p:sldId id="258" r:id="rId9"/>
    <p:sldId id="283" r:id="rId10"/>
    <p:sldId id="282" r:id="rId11"/>
    <p:sldId id="266" r:id="rId12"/>
    <p:sldId id="276" r:id="rId13"/>
    <p:sldId id="284" r:id="rId14"/>
    <p:sldId id="285" r:id="rId15"/>
    <p:sldId id="277" r:id="rId16"/>
    <p:sldId id="278" r:id="rId17"/>
    <p:sldId id="280" r:id="rId18"/>
    <p:sldId id="272" r:id="rId19"/>
    <p:sldId id="261" r:id="rId2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9F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32"/>
    <p:restoredTop sz="94726"/>
  </p:normalViewPr>
  <p:slideViewPr>
    <p:cSldViewPr>
      <p:cViewPr varScale="1">
        <p:scale>
          <a:sx n="80" d="100"/>
          <a:sy n="80" d="100"/>
        </p:scale>
        <p:origin x="1048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4F209-A8CC-1243-8848-871D1EC859B4}" type="datetimeFigureOut">
              <a:rPr lang="es-ES" smtClean="0"/>
              <a:t>21/4/26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9ABD72-58F8-BA4F-BB52-C8845ACB956D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788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Conteni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ABD72-58F8-BA4F-BB52-C8845ACB956D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30948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ABD72-58F8-BA4F-BB52-C8845ACB956D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11232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Conteni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ABD72-58F8-BA4F-BB52-C8845ACB956D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5739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Conteni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ABD72-58F8-BA4F-BB52-C8845ACB956D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91956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ABD72-58F8-BA4F-BB52-C8845ACB956D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6144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ABD72-58F8-BA4F-BB52-C8845ACB956D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0915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idor d'imatge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ontenidor de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a-ES" dirty="0"/>
          </a:p>
        </p:txBody>
      </p:sp>
      <p:sp>
        <p:nvSpPr>
          <p:cNvPr id="4" name="Conteni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9ABD72-58F8-BA4F-BB52-C8845ACB956D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44739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2" y="2537"/>
            <a:ext cx="14537174" cy="10284462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237945" y="10287000"/>
                </a:moveTo>
                <a:lnTo>
                  <a:pt x="2552" y="7030288"/>
                </a:lnTo>
                <a:lnTo>
                  <a:pt x="2552" y="10287000"/>
                </a:lnTo>
                <a:lnTo>
                  <a:pt x="1237945" y="10287000"/>
                </a:lnTo>
                <a:close/>
              </a:path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193088"/>
                </a:lnTo>
                <a:lnTo>
                  <a:pt x="141833" y="1193088"/>
                </a:lnTo>
                <a:lnTo>
                  <a:pt x="2322779" y="6971068"/>
                </a:lnTo>
                <a:lnTo>
                  <a:pt x="4494822" y="1193088"/>
                </a:lnTo>
                <a:lnTo>
                  <a:pt x="6888721" y="1193088"/>
                </a:lnTo>
                <a:lnTo>
                  <a:pt x="6888721" y="8108315"/>
                </a:lnTo>
                <a:lnTo>
                  <a:pt x="4715586" y="8108315"/>
                </a:lnTo>
                <a:lnTo>
                  <a:pt x="4715586" y="6998589"/>
                </a:lnTo>
                <a:lnTo>
                  <a:pt x="3468243" y="10287000"/>
                </a:lnTo>
                <a:lnTo>
                  <a:pt x="6901281" y="10287000"/>
                </a:lnTo>
                <a:lnTo>
                  <a:pt x="6901281" y="8108315"/>
                </a:lnTo>
                <a:lnTo>
                  <a:pt x="9074429" y="8108315"/>
                </a:lnTo>
                <a:lnTo>
                  <a:pt x="9074429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solidFill>
            <a:srgbClr val="1D1D1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02874" y="3510284"/>
            <a:ext cx="5550534" cy="1122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6947844" y="0"/>
            <a:ext cx="1329690" cy="10280015"/>
          </a:xfrm>
          <a:custGeom>
            <a:avLst/>
            <a:gdLst/>
            <a:ahLst/>
            <a:cxnLst/>
            <a:rect l="l" t="t" r="r" b="b"/>
            <a:pathLst>
              <a:path w="1329690" h="10280015">
                <a:moveTo>
                  <a:pt x="1329080" y="0"/>
                </a:moveTo>
                <a:lnTo>
                  <a:pt x="0" y="0"/>
                </a:lnTo>
                <a:lnTo>
                  <a:pt x="0" y="10279443"/>
                </a:lnTo>
                <a:lnTo>
                  <a:pt x="1329080" y="10279443"/>
                </a:lnTo>
                <a:lnTo>
                  <a:pt x="1329080" y="0"/>
                </a:lnTo>
                <a:close/>
              </a:path>
            </a:pathLst>
          </a:custGeom>
          <a:solidFill>
            <a:srgbClr val="009F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1329690" cy="1323340"/>
          </a:xfrm>
          <a:custGeom>
            <a:avLst/>
            <a:gdLst/>
            <a:ahLst/>
            <a:cxnLst/>
            <a:rect l="l" t="t" r="r" b="b"/>
            <a:pathLst>
              <a:path w="1329690" h="1323340">
                <a:moveTo>
                  <a:pt x="1329080" y="0"/>
                </a:moveTo>
                <a:lnTo>
                  <a:pt x="0" y="0"/>
                </a:lnTo>
                <a:lnTo>
                  <a:pt x="0" y="1323174"/>
                </a:lnTo>
                <a:lnTo>
                  <a:pt x="1329080" y="1323174"/>
                </a:lnTo>
                <a:lnTo>
                  <a:pt x="1329080" y="0"/>
                </a:lnTo>
                <a:close/>
              </a:path>
            </a:pathLst>
          </a:custGeom>
          <a:solidFill>
            <a:srgbClr val="009F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66331" y="248157"/>
            <a:ext cx="1017905" cy="821055"/>
          </a:xfrm>
          <a:custGeom>
            <a:avLst/>
            <a:gdLst/>
            <a:ahLst/>
            <a:cxnLst/>
            <a:rect l="l" t="t" r="r" b="b"/>
            <a:pathLst>
              <a:path w="1017905" h="821055">
                <a:moveTo>
                  <a:pt x="820839" y="0"/>
                </a:moveTo>
                <a:lnTo>
                  <a:pt x="605396" y="0"/>
                </a:lnTo>
                <a:lnTo>
                  <a:pt x="409943" y="519988"/>
                </a:lnTo>
                <a:lnTo>
                  <a:pt x="213639" y="0"/>
                </a:lnTo>
                <a:lnTo>
                  <a:pt x="0" y="0"/>
                </a:lnTo>
                <a:lnTo>
                  <a:pt x="0" y="820966"/>
                </a:lnTo>
                <a:lnTo>
                  <a:pt x="196697" y="820966"/>
                </a:lnTo>
                <a:lnTo>
                  <a:pt x="196697" y="516686"/>
                </a:lnTo>
                <a:lnTo>
                  <a:pt x="311721" y="819861"/>
                </a:lnTo>
                <a:lnTo>
                  <a:pt x="510908" y="820966"/>
                </a:lnTo>
                <a:lnTo>
                  <a:pt x="624141" y="522478"/>
                </a:lnTo>
                <a:lnTo>
                  <a:pt x="624141" y="622338"/>
                </a:lnTo>
                <a:lnTo>
                  <a:pt x="820839" y="622338"/>
                </a:lnTo>
                <a:lnTo>
                  <a:pt x="820839" y="0"/>
                </a:lnTo>
                <a:close/>
              </a:path>
              <a:path w="1017905" h="821055">
                <a:moveTo>
                  <a:pt x="1017549" y="622325"/>
                </a:moveTo>
                <a:lnTo>
                  <a:pt x="820851" y="622325"/>
                </a:lnTo>
                <a:lnTo>
                  <a:pt x="820851" y="820953"/>
                </a:lnTo>
                <a:lnTo>
                  <a:pt x="1017549" y="820953"/>
                </a:lnTo>
                <a:lnTo>
                  <a:pt x="1017549" y="62232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212971" y="0"/>
            <a:ext cx="1075055" cy="1075055"/>
          </a:xfrm>
          <a:custGeom>
            <a:avLst/>
            <a:gdLst/>
            <a:ahLst/>
            <a:cxnLst/>
            <a:rect l="l" t="t" r="r" b="b"/>
            <a:pathLst>
              <a:path w="1075055" h="1075055">
                <a:moveTo>
                  <a:pt x="1075029" y="0"/>
                </a:moveTo>
                <a:lnTo>
                  <a:pt x="0" y="0"/>
                </a:lnTo>
                <a:lnTo>
                  <a:pt x="0" y="1075029"/>
                </a:lnTo>
                <a:lnTo>
                  <a:pt x="1075029" y="1075029"/>
                </a:lnTo>
                <a:lnTo>
                  <a:pt x="1075029" y="0"/>
                </a:lnTo>
                <a:close/>
              </a:path>
            </a:pathLst>
          </a:custGeom>
          <a:solidFill>
            <a:srgbClr val="009F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347515" y="205498"/>
            <a:ext cx="823594" cy="664210"/>
          </a:xfrm>
          <a:custGeom>
            <a:avLst/>
            <a:gdLst/>
            <a:ahLst/>
            <a:cxnLst/>
            <a:rect l="l" t="t" r="r" b="b"/>
            <a:pathLst>
              <a:path w="823594" h="664210">
                <a:moveTo>
                  <a:pt x="663917" y="0"/>
                </a:moveTo>
                <a:lnTo>
                  <a:pt x="489661" y="0"/>
                </a:lnTo>
                <a:lnTo>
                  <a:pt x="331571" y="420598"/>
                </a:lnTo>
                <a:lnTo>
                  <a:pt x="172796" y="0"/>
                </a:lnTo>
                <a:lnTo>
                  <a:pt x="0" y="0"/>
                </a:lnTo>
                <a:lnTo>
                  <a:pt x="0" y="664044"/>
                </a:lnTo>
                <a:lnTo>
                  <a:pt x="159092" y="664044"/>
                </a:lnTo>
                <a:lnTo>
                  <a:pt x="159092" y="417918"/>
                </a:lnTo>
                <a:lnTo>
                  <a:pt x="252120" y="663143"/>
                </a:lnTo>
                <a:lnTo>
                  <a:pt x="413232" y="664044"/>
                </a:lnTo>
                <a:lnTo>
                  <a:pt x="504825" y="422605"/>
                </a:lnTo>
                <a:lnTo>
                  <a:pt x="504825" y="503377"/>
                </a:lnTo>
                <a:lnTo>
                  <a:pt x="663917" y="503377"/>
                </a:lnTo>
                <a:lnTo>
                  <a:pt x="663917" y="0"/>
                </a:lnTo>
                <a:close/>
              </a:path>
              <a:path w="823594" h="664210">
                <a:moveTo>
                  <a:pt x="823036" y="503364"/>
                </a:moveTo>
                <a:lnTo>
                  <a:pt x="663930" y="503364"/>
                </a:lnTo>
                <a:lnTo>
                  <a:pt x="663930" y="664032"/>
                </a:lnTo>
                <a:lnTo>
                  <a:pt x="823036" y="664032"/>
                </a:lnTo>
                <a:lnTo>
                  <a:pt x="823036" y="5033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329082" y="9204424"/>
            <a:ext cx="15420340" cy="0"/>
          </a:xfrm>
          <a:custGeom>
            <a:avLst/>
            <a:gdLst/>
            <a:ahLst/>
            <a:cxnLst/>
            <a:rect l="l" t="t" r="r" b="b"/>
            <a:pathLst>
              <a:path w="15420340">
                <a:moveTo>
                  <a:pt x="15419997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212971" y="9211970"/>
            <a:ext cx="1075055" cy="1075055"/>
          </a:xfrm>
          <a:custGeom>
            <a:avLst/>
            <a:gdLst/>
            <a:ahLst/>
            <a:cxnLst/>
            <a:rect l="l" t="t" r="r" b="b"/>
            <a:pathLst>
              <a:path w="1075055" h="1075054">
                <a:moveTo>
                  <a:pt x="1075029" y="0"/>
                </a:moveTo>
                <a:lnTo>
                  <a:pt x="0" y="0"/>
                </a:lnTo>
                <a:lnTo>
                  <a:pt x="0" y="1075029"/>
                </a:lnTo>
                <a:lnTo>
                  <a:pt x="1075029" y="1075029"/>
                </a:lnTo>
                <a:lnTo>
                  <a:pt x="1075029" y="0"/>
                </a:lnTo>
                <a:close/>
              </a:path>
            </a:pathLst>
          </a:custGeom>
          <a:solidFill>
            <a:srgbClr val="009F9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7347515" y="9417481"/>
            <a:ext cx="823594" cy="664210"/>
          </a:xfrm>
          <a:custGeom>
            <a:avLst/>
            <a:gdLst/>
            <a:ahLst/>
            <a:cxnLst/>
            <a:rect l="l" t="t" r="r" b="b"/>
            <a:pathLst>
              <a:path w="823594" h="664209">
                <a:moveTo>
                  <a:pt x="663917" y="0"/>
                </a:moveTo>
                <a:lnTo>
                  <a:pt x="489661" y="0"/>
                </a:lnTo>
                <a:lnTo>
                  <a:pt x="331571" y="420585"/>
                </a:lnTo>
                <a:lnTo>
                  <a:pt x="172796" y="0"/>
                </a:lnTo>
                <a:lnTo>
                  <a:pt x="0" y="0"/>
                </a:lnTo>
                <a:lnTo>
                  <a:pt x="0" y="664032"/>
                </a:lnTo>
                <a:lnTo>
                  <a:pt x="159092" y="664032"/>
                </a:lnTo>
                <a:lnTo>
                  <a:pt x="159092" y="417918"/>
                </a:lnTo>
                <a:lnTo>
                  <a:pt x="252120" y="663143"/>
                </a:lnTo>
                <a:lnTo>
                  <a:pt x="413232" y="664032"/>
                </a:lnTo>
                <a:lnTo>
                  <a:pt x="504825" y="422592"/>
                </a:lnTo>
                <a:lnTo>
                  <a:pt x="504825" y="503377"/>
                </a:lnTo>
                <a:lnTo>
                  <a:pt x="663917" y="503377"/>
                </a:lnTo>
                <a:lnTo>
                  <a:pt x="663917" y="0"/>
                </a:lnTo>
                <a:close/>
              </a:path>
              <a:path w="823594" h="664209">
                <a:moveTo>
                  <a:pt x="823036" y="503364"/>
                </a:moveTo>
                <a:lnTo>
                  <a:pt x="663930" y="503364"/>
                </a:lnTo>
                <a:lnTo>
                  <a:pt x="663930" y="664019"/>
                </a:lnTo>
                <a:lnTo>
                  <a:pt x="823036" y="664019"/>
                </a:lnTo>
                <a:lnTo>
                  <a:pt x="823036" y="50336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32853" y="0"/>
            <a:ext cx="11255146" cy="573025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07516" y="1901862"/>
            <a:ext cx="2395220" cy="1160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rgbClr val="1D1D1B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hyperlink" Target="mailto:jaime.orrego@uab.c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Pasaje de Sant Felip: un paseo a finales del siglo XIX">
            <a:extLst>
              <a:ext uri="{FF2B5EF4-FFF2-40B4-BE49-F238E27FC236}">
                <a16:creationId xmlns:a16="http://schemas.microsoft.com/office/drawing/2014/main" id="{417B35FE-ACBB-6B4A-1931-09F620DB9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352800" y="0"/>
            <a:ext cx="15435263" cy="1028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Imatge 5" descr="Imatge que conté text, captura de pantalla, Gràfics, disseny gràfic&#10;&#10;Descripció generada automàticament">
            <a:extLst>
              <a:ext uri="{FF2B5EF4-FFF2-40B4-BE49-F238E27FC236}">
                <a16:creationId xmlns:a16="http://schemas.microsoft.com/office/drawing/2014/main" id="{4BAA99D7-5174-D121-5C8D-BEB6A041AC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7733" y="-5787"/>
            <a:ext cx="18355733" cy="10325100"/>
          </a:xfrm>
          <a:prstGeom prst="rect">
            <a:avLst/>
          </a:prstGeom>
        </p:spPr>
      </p:pic>
      <p:sp>
        <p:nvSpPr>
          <p:cNvPr id="7" name="object 2">
            <a:extLst>
              <a:ext uri="{FF2B5EF4-FFF2-40B4-BE49-F238E27FC236}">
                <a16:creationId xmlns:a16="http://schemas.microsoft.com/office/drawing/2014/main" id="{971276C7-DECD-AC27-47D0-91E12716DBAD}"/>
              </a:ext>
            </a:extLst>
          </p:cNvPr>
          <p:cNvSpPr txBox="1">
            <a:spLocks/>
          </p:cNvSpPr>
          <p:nvPr/>
        </p:nvSpPr>
        <p:spPr>
          <a:xfrm>
            <a:off x="9502874" y="1848290"/>
            <a:ext cx="8480326" cy="37061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rgbClr val="1D1D1B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ca-ES" b="1" spc="-210" dirty="0">
                <a:solidFill>
                  <a:srgbClr val="FFFFFF"/>
                </a:solidFill>
                <a:latin typeface="Montserrat Black" pitchFamily="2" charset="77"/>
              </a:rPr>
              <a:t>Perspectives on </a:t>
            </a:r>
            <a:r>
              <a:rPr lang="ca-ES" b="1" spc="-210" dirty="0" err="1">
                <a:solidFill>
                  <a:srgbClr val="FFFFFF"/>
                </a:solidFill>
                <a:latin typeface="Montserrat Black" pitchFamily="2" charset="77"/>
              </a:rPr>
              <a:t>Urban</a:t>
            </a:r>
            <a:r>
              <a:rPr lang="ca-ES" b="1" spc="-210" dirty="0">
                <a:solidFill>
                  <a:srgbClr val="FFFFFF"/>
                </a:solidFill>
                <a:latin typeface="Montserrat Black" pitchFamily="2" charset="77"/>
              </a:rPr>
              <a:t> </a:t>
            </a:r>
            <a:r>
              <a:rPr lang="ca-ES" b="1" spc="-210" dirty="0" err="1">
                <a:solidFill>
                  <a:srgbClr val="FFFFFF"/>
                </a:solidFill>
                <a:latin typeface="Montserrat Black" pitchFamily="2" charset="77"/>
              </a:rPr>
              <a:t>Walking</a:t>
            </a:r>
            <a:r>
              <a:rPr lang="ca-ES" b="1" spc="-210" dirty="0">
                <a:solidFill>
                  <a:srgbClr val="FFFFFF"/>
                </a:solidFill>
                <a:latin typeface="Montserrat Black" pitchFamily="2" charset="77"/>
              </a:rPr>
              <a:t>: </a:t>
            </a:r>
            <a:r>
              <a:rPr lang="ca-ES" b="1" spc="-210" dirty="0" err="1">
                <a:solidFill>
                  <a:srgbClr val="FFFFFF"/>
                </a:solidFill>
                <a:latin typeface="Montserrat Black" pitchFamily="2" charset="77"/>
              </a:rPr>
              <a:t>Exploring</a:t>
            </a:r>
            <a:r>
              <a:rPr lang="ca-ES" b="1" spc="-210" dirty="0">
                <a:solidFill>
                  <a:srgbClr val="FFFFFF"/>
                </a:solidFill>
                <a:latin typeface="Montserrat Black" pitchFamily="2" charset="77"/>
              </a:rPr>
              <a:t> </a:t>
            </a:r>
            <a:r>
              <a:rPr lang="ca-ES" b="1" spc="-210" dirty="0" err="1">
                <a:solidFill>
                  <a:srgbClr val="FFFFFF"/>
                </a:solidFill>
                <a:latin typeface="Montserrat Black" pitchFamily="2" charset="77"/>
              </a:rPr>
              <a:t>Perceived</a:t>
            </a:r>
            <a:r>
              <a:rPr lang="ca-ES" b="1" spc="-210" dirty="0">
                <a:solidFill>
                  <a:srgbClr val="FFFFFF"/>
                </a:solidFill>
                <a:latin typeface="Montserrat Black" pitchFamily="2" charset="77"/>
              </a:rPr>
              <a:t> </a:t>
            </a:r>
            <a:r>
              <a:rPr lang="ca-ES" b="1" spc="-210" dirty="0" err="1">
                <a:solidFill>
                  <a:srgbClr val="FFFFFF"/>
                </a:solidFill>
                <a:latin typeface="Montserrat Black" pitchFamily="2" charset="77"/>
              </a:rPr>
              <a:t>and</a:t>
            </a:r>
            <a:r>
              <a:rPr lang="ca-ES" b="1" spc="-210" dirty="0">
                <a:solidFill>
                  <a:srgbClr val="FFFFFF"/>
                </a:solidFill>
                <a:latin typeface="Montserrat Black" pitchFamily="2" charset="77"/>
              </a:rPr>
              <a:t> </a:t>
            </a:r>
            <a:r>
              <a:rPr lang="ca-ES" b="1" spc="-210" dirty="0" err="1">
                <a:solidFill>
                  <a:srgbClr val="FFFFFF"/>
                </a:solidFill>
                <a:latin typeface="Montserrat Black" pitchFamily="2" charset="77"/>
              </a:rPr>
              <a:t>Objective</a:t>
            </a:r>
            <a:r>
              <a:rPr lang="ca-ES" b="1" spc="-210" dirty="0">
                <a:solidFill>
                  <a:srgbClr val="FFFFFF"/>
                </a:solidFill>
                <a:latin typeface="Montserrat Black" pitchFamily="2" charset="77"/>
              </a:rPr>
              <a:t> </a:t>
            </a:r>
            <a:r>
              <a:rPr lang="ca-ES" b="1" spc="-210" dirty="0" err="1">
                <a:solidFill>
                  <a:srgbClr val="FFFFFF"/>
                </a:solidFill>
                <a:latin typeface="Montserrat Black" pitchFamily="2" charset="77"/>
              </a:rPr>
              <a:t>Accessibility</a:t>
            </a:r>
            <a:r>
              <a:rPr lang="ca-ES" b="1" spc="-210" dirty="0">
                <a:solidFill>
                  <a:srgbClr val="FFFFFF"/>
                </a:solidFill>
                <a:latin typeface="Montserrat Black" pitchFamily="2" charset="77"/>
              </a:rPr>
              <a:t> in Mode </a:t>
            </a:r>
            <a:r>
              <a:rPr lang="ca-ES" b="1" spc="-210" dirty="0" err="1">
                <a:solidFill>
                  <a:srgbClr val="FFFFFF"/>
                </a:solidFill>
                <a:latin typeface="Montserrat Black" pitchFamily="2" charset="77"/>
              </a:rPr>
              <a:t>Selection</a:t>
            </a:r>
            <a:endParaRPr lang="ca-ES" b="1" spc="-210" dirty="0">
              <a:solidFill>
                <a:srgbClr val="FFFFFF"/>
              </a:solidFill>
              <a:latin typeface="Montserrat Black" pitchFamily="2" charset="77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545D256C-95E4-DDCE-AB44-503768940A5C}"/>
              </a:ext>
            </a:extLst>
          </p:cNvPr>
          <p:cNvSpPr txBox="1"/>
          <p:nvPr/>
        </p:nvSpPr>
        <p:spPr>
          <a:xfrm>
            <a:off x="9502874" y="5600153"/>
            <a:ext cx="7946926" cy="8874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800" b="1" spc="-80" dirty="0">
                <a:solidFill>
                  <a:srgbClr val="FFFFFF"/>
                </a:solidFill>
                <a:latin typeface="Montserrat" pitchFamily="2" charset="77"/>
                <a:cs typeface="Verdana"/>
              </a:rPr>
              <a:t>Jaime Orrego </a:t>
            </a:r>
            <a:r>
              <a:rPr lang="en-US" sz="2800" b="1" spc="-80" dirty="0" err="1">
                <a:solidFill>
                  <a:srgbClr val="FFFFFF"/>
                </a:solidFill>
                <a:latin typeface="Montserrat" pitchFamily="2" charset="77"/>
                <a:cs typeface="Verdana"/>
              </a:rPr>
              <a:t>Oñate</a:t>
            </a:r>
            <a:endParaRPr lang="en-US" sz="2800" b="1" spc="-80" dirty="0">
              <a:solidFill>
                <a:srgbClr val="FFFFFF"/>
              </a:solidFill>
              <a:latin typeface="Montserrat" pitchFamily="2" charset="77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800" b="1" spc="-80" dirty="0">
                <a:solidFill>
                  <a:srgbClr val="FFFFFF"/>
                </a:solidFill>
                <a:latin typeface="Montserrat" pitchFamily="2" charset="77"/>
                <a:cs typeface="Verdana"/>
              </a:rPr>
              <a:t>Postdoctoral researcher - GEMOTT</a:t>
            </a:r>
          </a:p>
        </p:txBody>
      </p:sp>
    </p:spTree>
    <p:extLst>
      <p:ext uri="{BB962C8B-B14F-4D97-AF65-F5344CB8AC3E}">
        <p14:creationId xmlns:p14="http://schemas.microsoft.com/office/powerpoint/2010/main" val="1234051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7515" y="1901862"/>
            <a:ext cx="3839493" cy="7437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670"/>
              </a:lnSpc>
              <a:spcBef>
                <a:spcPts val="100"/>
              </a:spcBef>
            </a:pPr>
            <a:r>
              <a:rPr lang="en-US" b="1" spc="-220" dirty="0">
                <a:latin typeface="Montserrat" pitchFamily="2" charset="77"/>
              </a:rPr>
              <a:t>Motivation</a:t>
            </a:r>
            <a:endParaRPr b="1" spc="-220" dirty="0">
              <a:latin typeface="Montserrat" pitchFamily="2" charset="7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22777" y="4080511"/>
            <a:ext cx="8026023" cy="4106252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Silka" pitchFamily="2" charset="77"/>
              </a:rPr>
              <a:t>Planning applications often use objective measures of accessibility to associate policies with specific outcomes.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Silka" pitchFamily="2" charset="77"/>
            </a:endParaRP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Silka" pitchFamily="2" charset="77"/>
              </a:rPr>
              <a:t>However, objective accessibility may be inconsistent with perceived accessibility.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Silka" pitchFamily="2" charset="77"/>
            </a:endParaRPr>
          </a:p>
          <a:p>
            <a:pPr marL="298450" indent="-285750"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Silka" pitchFamily="2" charset="77"/>
                <a:cs typeface="Verdana"/>
              </a:rPr>
              <a:t>As a result, outcomes may differ from expectations; destinations might be accessible for active travel, but people may not choose those modes.</a:t>
            </a:r>
          </a:p>
          <a:p>
            <a:pPr marL="298450" indent="-285750">
              <a:spcBef>
                <a:spcPts val="42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Silka" pitchFamily="2" charset="77"/>
              <a:cs typeface="Verdana"/>
            </a:endParaRPr>
          </a:p>
          <a:p>
            <a:pPr marL="298450" indent="-285750">
              <a:spcBef>
                <a:spcPts val="42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Silka" pitchFamily="2" charset="77"/>
              <a:cs typeface="Verdana"/>
            </a:endParaRPr>
          </a:p>
          <a:p>
            <a:pPr marL="298450" indent="-285750">
              <a:spcBef>
                <a:spcPts val="42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Silka" pitchFamily="2" charset="77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2473" y="9234065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2473" y="3240683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50" name="Picture 2" descr="Portland Travel Guide: Where to Stay, What to Eat, and More - The Manual">
            <a:extLst>
              <a:ext uri="{FF2B5EF4-FFF2-40B4-BE49-F238E27FC236}">
                <a16:creationId xmlns:a16="http://schemas.microsoft.com/office/drawing/2014/main" id="{8EB26417-1346-5046-E4F0-13A484C742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10" t="-1111" r="20370" b="24903"/>
          <a:stretch/>
        </p:blipFill>
        <p:spPr bwMode="auto">
          <a:xfrm>
            <a:off x="9780204" y="1502771"/>
            <a:ext cx="7162800" cy="783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1170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7BF0D09-3C89-AB24-C941-A3792093BAF2}"/>
              </a:ext>
            </a:extLst>
          </p:cNvPr>
          <p:cNvSpPr txBox="1">
            <a:spLocks/>
          </p:cNvSpPr>
          <p:nvPr/>
        </p:nvSpPr>
        <p:spPr>
          <a:xfrm>
            <a:off x="1526583" y="1790700"/>
            <a:ext cx="15849600" cy="50244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rgbClr val="1D1D1B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698500" indent="-6858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How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does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proximity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perception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and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objective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accessibility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are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related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to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each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other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?</a:t>
            </a:r>
          </a:p>
          <a:p>
            <a:pPr marL="698500" indent="-685800"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ca-ES" sz="5400" b="1" dirty="0">
              <a:solidFill>
                <a:schemeClr val="bg1"/>
              </a:solidFill>
              <a:latin typeface="Montserrat" pitchFamily="2" charset="77"/>
            </a:endParaRPr>
          </a:p>
          <a:p>
            <a:pPr marL="698500" indent="-685800"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What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is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the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role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of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proximity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perception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 in mode </a:t>
            </a:r>
            <a:r>
              <a:rPr lang="ca-ES" sz="5400" b="1" dirty="0" err="1">
                <a:solidFill>
                  <a:schemeClr val="bg1"/>
                </a:solidFill>
                <a:latin typeface="Montserrat" pitchFamily="2" charset="77"/>
              </a:rPr>
              <a:t>choice</a:t>
            </a:r>
            <a:r>
              <a:rPr lang="ca-ES" sz="5400" b="1" dirty="0">
                <a:solidFill>
                  <a:schemeClr val="bg1"/>
                </a:solidFill>
                <a:latin typeface="Montserrat" pitchFamily="2" charset="77"/>
              </a:rPr>
              <a:t>?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C24131A4-EA56-E920-3F39-8C9C2BE2FE8E}"/>
              </a:ext>
            </a:extLst>
          </p:cNvPr>
          <p:cNvSpPr txBox="1">
            <a:spLocks/>
          </p:cNvSpPr>
          <p:nvPr/>
        </p:nvSpPr>
        <p:spPr>
          <a:xfrm>
            <a:off x="1524000" y="419100"/>
            <a:ext cx="158496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4800" b="0" i="0">
                <a:solidFill>
                  <a:srgbClr val="1D1D1B"/>
                </a:solidFill>
                <a:latin typeface="Arial Black"/>
                <a:ea typeface="+mj-ea"/>
                <a:cs typeface="Arial Black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ca-ES" sz="5400" b="1" dirty="0" err="1">
                <a:solidFill>
                  <a:srgbClr val="FFFF00"/>
                </a:solidFill>
                <a:latin typeface="Montserrat" pitchFamily="2" charset="77"/>
              </a:rPr>
              <a:t>Within</a:t>
            </a:r>
            <a:r>
              <a:rPr lang="ca-ES" sz="5400" b="1" dirty="0">
                <a:solidFill>
                  <a:srgbClr val="FFFF00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rgbClr val="FFFF00"/>
                </a:solidFill>
                <a:latin typeface="Montserrat" pitchFamily="2" charset="77"/>
              </a:rPr>
              <a:t>mid</a:t>
            </a:r>
            <a:r>
              <a:rPr lang="ca-ES" sz="5400" b="1" dirty="0">
                <a:solidFill>
                  <a:srgbClr val="FFFF00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rgbClr val="FFFF00"/>
                </a:solidFill>
                <a:latin typeface="Montserrat" pitchFamily="2" charset="77"/>
              </a:rPr>
              <a:t>size</a:t>
            </a:r>
            <a:r>
              <a:rPr lang="ca-ES" sz="5400" b="1" dirty="0">
                <a:solidFill>
                  <a:srgbClr val="FFFF00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rgbClr val="FFFF00"/>
                </a:solidFill>
                <a:latin typeface="Montserrat" pitchFamily="2" charset="77"/>
              </a:rPr>
              <a:t>Spanish</a:t>
            </a:r>
            <a:r>
              <a:rPr lang="ca-ES" sz="5400" b="1" dirty="0">
                <a:solidFill>
                  <a:srgbClr val="FFFF00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rgbClr val="FFFF00"/>
                </a:solidFill>
                <a:latin typeface="Montserrat" pitchFamily="2" charset="77"/>
              </a:rPr>
              <a:t>urban</a:t>
            </a:r>
            <a:r>
              <a:rPr lang="ca-ES" sz="5400" b="1" dirty="0">
                <a:solidFill>
                  <a:srgbClr val="FFFF00"/>
                </a:solidFill>
                <a:latin typeface="Montserrat" pitchFamily="2" charset="77"/>
              </a:rPr>
              <a:t> </a:t>
            </a:r>
            <a:r>
              <a:rPr lang="ca-ES" sz="5400" b="1" dirty="0" err="1">
                <a:solidFill>
                  <a:srgbClr val="FFFF00"/>
                </a:solidFill>
                <a:latin typeface="Montserrat" pitchFamily="2" charset="77"/>
              </a:rPr>
              <a:t>areas</a:t>
            </a:r>
            <a:r>
              <a:rPr lang="ca-ES" sz="5400" b="1" dirty="0">
                <a:solidFill>
                  <a:srgbClr val="FFFF00"/>
                </a:solidFill>
                <a:latin typeface="Montserrat" pitchFamily="2" charset="77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049957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9F9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FF7C497-CC5C-F190-1732-0DF49442B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33935" y="5372100"/>
            <a:ext cx="8354065" cy="6073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950F27C-BE98-9F6C-F790-3C7B9FD0C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0134" y="0"/>
            <a:ext cx="8354066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3A9E5C9-7908-179E-CF97-241B5749C48D}"/>
              </a:ext>
            </a:extLst>
          </p:cNvPr>
          <p:cNvSpPr/>
          <p:nvPr/>
        </p:nvSpPr>
        <p:spPr>
          <a:xfrm>
            <a:off x="4953000" y="-647700"/>
            <a:ext cx="6858000" cy="11506200"/>
          </a:xfrm>
          <a:prstGeom prst="ellipse">
            <a:avLst/>
          </a:prstGeom>
          <a:solidFill>
            <a:srgbClr val="019F9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A25A97D-F12E-0F41-F735-87A5EB2FA723}"/>
              </a:ext>
            </a:extLst>
          </p:cNvPr>
          <p:cNvSpPr txBox="1"/>
          <p:nvPr/>
        </p:nvSpPr>
        <p:spPr>
          <a:xfrm>
            <a:off x="3380734" y="2324651"/>
            <a:ext cx="6858000" cy="7884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4800" b="1" spc="-80" dirty="0">
                <a:solidFill>
                  <a:srgbClr val="FFFFFF"/>
                </a:solidFill>
                <a:latin typeface="Silka Bold" pitchFamily="2" charset="77"/>
                <a:cs typeface="Verdana"/>
              </a:rPr>
              <a:t>Case studies: 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4800" b="1" spc="-80" dirty="0">
                <a:solidFill>
                  <a:srgbClr val="FFFFFF"/>
                </a:solidFill>
                <a:latin typeface="Silka Bold" pitchFamily="2" charset="77"/>
                <a:cs typeface="Verdana"/>
              </a:rPr>
              <a:t>Mid size Spanish Cities</a:t>
            </a: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4800" b="1" spc="-80" dirty="0">
              <a:solidFill>
                <a:srgbClr val="FFFFFF"/>
              </a:solidFill>
              <a:latin typeface="Silka Bold" pitchFamily="2" charset="77"/>
              <a:cs typeface="Verdana"/>
            </a:endParaRPr>
          </a:p>
          <a:p>
            <a:pPr marL="584200" marR="508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4400" spc="-80" dirty="0">
                <a:solidFill>
                  <a:srgbClr val="FFFFFF"/>
                </a:solidFill>
                <a:latin typeface="Silka" pitchFamily="2" charset="77"/>
                <a:cs typeface="Verdana"/>
              </a:rPr>
              <a:t>Granada</a:t>
            </a:r>
          </a:p>
          <a:p>
            <a:pPr marL="584200" marR="508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4400" spc="-80" dirty="0">
                <a:solidFill>
                  <a:srgbClr val="FFFFFF"/>
                </a:solidFill>
                <a:latin typeface="Silka" pitchFamily="2" charset="77"/>
                <a:cs typeface="Verdana"/>
              </a:rPr>
              <a:t>Palma</a:t>
            </a:r>
          </a:p>
          <a:p>
            <a:pPr marL="584200" marR="5080" indent="-57150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4400" spc="-80" dirty="0">
                <a:solidFill>
                  <a:srgbClr val="FFFFFF"/>
                </a:solidFill>
                <a:latin typeface="Silka" pitchFamily="2" charset="77"/>
                <a:cs typeface="Verdana"/>
              </a:rPr>
              <a:t>Valencia</a:t>
            </a:r>
          </a:p>
          <a:p>
            <a:pPr marL="869950" marR="5080" indent="-8572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endParaRPr lang="en-US" sz="6600" spc="-80" dirty="0">
              <a:solidFill>
                <a:srgbClr val="FFFFFF"/>
              </a:solidFill>
              <a:latin typeface="Silka Bold" pitchFamily="2" charset="77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5400" spc="-80" dirty="0">
              <a:solidFill>
                <a:srgbClr val="FFFFFF"/>
              </a:solidFill>
              <a:latin typeface="Silka" pitchFamily="2" charset="77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5400" spc="-80" dirty="0">
              <a:solidFill>
                <a:srgbClr val="FFFFFF"/>
              </a:solidFill>
              <a:latin typeface="Silka" pitchFamily="2" charset="77"/>
              <a:cs typeface="Verdana"/>
            </a:endParaRPr>
          </a:p>
          <a:p>
            <a:pPr marL="12700" marR="5080">
              <a:lnSpc>
                <a:spcPct val="100000"/>
              </a:lnSpc>
              <a:spcBef>
                <a:spcPts val="100"/>
              </a:spcBef>
            </a:pPr>
            <a:endParaRPr lang="en-US" sz="5400" spc="-80" dirty="0">
              <a:solidFill>
                <a:srgbClr val="FFFFFF"/>
              </a:solidFill>
              <a:latin typeface="Silka SemiBold" pitchFamily="2" charset="77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025766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7817784" y="6280556"/>
            <a:ext cx="5517215" cy="298222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lang="en-US" sz="2700" b="1" spc="-114" dirty="0">
                <a:solidFill>
                  <a:srgbClr val="009F96"/>
                </a:solidFill>
                <a:latin typeface="Montserrat Black" pitchFamily="2" charset="77"/>
                <a:cs typeface="Arial Black"/>
              </a:rPr>
              <a:t>Variables</a:t>
            </a:r>
          </a:p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Silka Bold" pitchFamily="2" charset="77"/>
                <a:cs typeface="Verdana"/>
              </a:rPr>
              <a:t>Socioeconomics</a:t>
            </a:r>
            <a:r>
              <a:rPr lang="en-US" b="1" dirty="0">
                <a:latin typeface="Silka Bold" pitchFamily="2" charset="77"/>
                <a:cs typeface="Verdana"/>
              </a:rPr>
              <a:t>: </a:t>
            </a:r>
            <a:r>
              <a:rPr lang="en-US" b="1" dirty="0">
                <a:latin typeface="Silka Medium" pitchFamily="2" charset="77"/>
                <a:cs typeface="Verdana"/>
              </a:rPr>
              <a:t>Education, age, gender</a:t>
            </a:r>
          </a:p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Silka Bold" pitchFamily="2" charset="77"/>
                <a:cs typeface="Verdana"/>
              </a:rPr>
              <a:t>Proximity perception </a:t>
            </a:r>
            <a:r>
              <a:rPr lang="en-US" b="1" dirty="0">
                <a:latin typeface="Silka Bold" pitchFamily="2" charset="77"/>
                <a:cs typeface="Verdana"/>
              </a:rPr>
              <a:t>to different destinations (Shopping, Food, Entertainment)</a:t>
            </a:r>
          </a:p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Silka Bold" pitchFamily="2" charset="77"/>
                <a:cs typeface="Verdana"/>
              </a:rPr>
              <a:t>Primary travel mode </a:t>
            </a:r>
            <a:r>
              <a:rPr lang="en-US" b="1" dirty="0">
                <a:latin typeface="Silka Bold" pitchFamily="2" charset="77"/>
                <a:cs typeface="Verdana"/>
              </a:rPr>
              <a:t>for different destinations</a:t>
            </a:r>
          </a:p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Silka Bold" pitchFamily="2" charset="77"/>
                <a:cs typeface="Verdana"/>
              </a:rPr>
              <a:t>Residence location</a:t>
            </a:r>
            <a:endParaRPr lang="es-ES" dirty="0">
              <a:solidFill>
                <a:srgbClr val="FF0000"/>
              </a:solidFill>
              <a:latin typeface="Silka Medium" pitchFamily="2" charset="77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12093" y="6160544"/>
            <a:ext cx="430530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b="1" spc="-994" dirty="0">
                <a:solidFill>
                  <a:srgbClr val="009F96"/>
                </a:solidFill>
                <a:latin typeface="Montserrat Black" pitchFamily="2" charset="77"/>
                <a:cs typeface="Arial Black"/>
              </a:rPr>
              <a:t>1</a:t>
            </a:r>
            <a:r>
              <a:rPr lang="en-US" sz="5100" b="1" spc="-994" dirty="0">
                <a:solidFill>
                  <a:srgbClr val="009F96"/>
                </a:solidFill>
                <a:latin typeface="Montserrat Black" pitchFamily="2" charset="77"/>
                <a:cs typeface="Arial Black"/>
              </a:rPr>
              <a:t> </a:t>
            </a:r>
            <a:r>
              <a:rPr sz="5100" b="1" spc="-994" dirty="0">
                <a:solidFill>
                  <a:srgbClr val="009F96"/>
                </a:solidFill>
                <a:latin typeface="Montserrat Black" pitchFamily="2" charset="77"/>
                <a:cs typeface="Arial Black"/>
              </a:rPr>
              <a:t>.</a:t>
            </a:r>
            <a:endParaRPr sz="5100" b="1" dirty="0">
              <a:latin typeface="Montserrat Black" pitchFamily="2" charset="77"/>
              <a:cs typeface="Arial Black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046639" y="6263234"/>
            <a:ext cx="3658870" cy="588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54"/>
              </a:lnSpc>
            </a:pPr>
            <a:r>
              <a:rPr sz="7650" b="1" spc="-652" baseline="-16339" dirty="0">
                <a:solidFill>
                  <a:srgbClr val="009F96"/>
                </a:solidFill>
                <a:latin typeface="Montserrat Black" pitchFamily="2" charset="77"/>
                <a:cs typeface="Arial Black"/>
              </a:rPr>
              <a:t>2.</a:t>
            </a:r>
            <a:r>
              <a:rPr lang="en-CL" sz="7650" b="1" spc="690" baseline="-16339" dirty="0">
                <a:solidFill>
                  <a:srgbClr val="009F96"/>
                </a:solidFill>
                <a:latin typeface="Montserrat Black" pitchFamily="2" charset="77"/>
                <a:cs typeface="Arial Black"/>
              </a:rPr>
              <a:t> </a:t>
            </a:r>
            <a:endParaRPr sz="2800" b="1" dirty="0">
              <a:latin typeface="Montserrat Black" pitchFamily="2" charset="77"/>
              <a:cs typeface="Arial Black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757621" y="6263234"/>
            <a:ext cx="3119120" cy="5886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554"/>
              </a:lnSpc>
            </a:pPr>
            <a:r>
              <a:rPr sz="7650" b="1" spc="-690" baseline="-16339" dirty="0">
                <a:solidFill>
                  <a:srgbClr val="009F96"/>
                </a:solidFill>
                <a:latin typeface="Montserrat Black" pitchFamily="2" charset="77"/>
                <a:cs typeface="Arial Black"/>
              </a:rPr>
              <a:t>3.</a:t>
            </a:r>
            <a:r>
              <a:rPr sz="7650" b="1" spc="7" baseline="-16339" dirty="0">
                <a:solidFill>
                  <a:srgbClr val="009F96"/>
                </a:solidFill>
                <a:latin typeface="Montserrat Black" pitchFamily="2" charset="77"/>
                <a:cs typeface="Arial Black"/>
              </a:rPr>
              <a:t> </a:t>
            </a:r>
            <a:endParaRPr sz="2800" b="1" dirty="0">
              <a:latin typeface="Montserrat Black" pitchFamily="2" charset="77"/>
              <a:cs typeface="Arial Black"/>
            </a:endParaRP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1DB1B16-532E-1A94-F1EA-5D538A57371B}"/>
              </a:ext>
            </a:extLst>
          </p:cNvPr>
          <p:cNvSpPr/>
          <p:nvPr/>
        </p:nvSpPr>
        <p:spPr>
          <a:xfrm>
            <a:off x="1340310" y="0"/>
            <a:ext cx="8217286" cy="5753100"/>
          </a:xfrm>
          <a:prstGeom prst="rect">
            <a:avLst/>
          </a:prstGeom>
          <a:solidFill>
            <a:srgbClr val="019F97"/>
          </a:solidFill>
          <a:ln>
            <a:solidFill>
              <a:srgbClr val="019F97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object 3">
            <a:extLst>
              <a:ext uri="{FF2B5EF4-FFF2-40B4-BE49-F238E27FC236}">
                <a16:creationId xmlns:a16="http://schemas.microsoft.com/office/drawing/2014/main" id="{7F4E3E5E-4671-1C3C-3A72-520DDAB6710E}"/>
              </a:ext>
            </a:extLst>
          </p:cNvPr>
          <p:cNvSpPr txBox="1"/>
          <p:nvPr/>
        </p:nvSpPr>
        <p:spPr>
          <a:xfrm>
            <a:off x="2555343" y="1593980"/>
            <a:ext cx="5064657" cy="7431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5670"/>
              </a:lnSpc>
              <a:spcBef>
                <a:spcPts val="100"/>
              </a:spcBef>
            </a:pPr>
            <a:r>
              <a:rPr lang="es-ES" sz="4800" b="1" spc="-220" dirty="0">
                <a:solidFill>
                  <a:schemeClr val="bg1"/>
                </a:solidFill>
                <a:latin typeface="Montserrat" pitchFamily="2" charset="77"/>
              </a:rPr>
              <a:t>Data</a:t>
            </a:r>
            <a:endParaRPr lang="es-ES" sz="1400" b="1" spc="-220" dirty="0">
              <a:solidFill>
                <a:schemeClr val="bg1"/>
              </a:solidFill>
              <a:latin typeface="Montserrat" pitchFamily="2" charset="77"/>
              <a:cs typeface="Verdana"/>
            </a:endParaRPr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90E5FFAF-CF43-4A19-1511-0012ECE749B1}"/>
              </a:ext>
            </a:extLst>
          </p:cNvPr>
          <p:cNvSpPr txBox="1"/>
          <p:nvPr/>
        </p:nvSpPr>
        <p:spPr>
          <a:xfrm>
            <a:off x="1950750" y="6280180"/>
            <a:ext cx="4507035" cy="29514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lang="en-US" sz="2700" b="1" spc="-114" dirty="0">
                <a:solidFill>
                  <a:srgbClr val="009F96"/>
                </a:solidFill>
                <a:latin typeface="Montserrat Black" pitchFamily="2" charset="77"/>
                <a:cs typeface="Arial Black"/>
              </a:rPr>
              <a:t>Telephone survey</a:t>
            </a:r>
          </a:p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Silka Medium" pitchFamily="2" charset="77"/>
                <a:cs typeface="Verdana"/>
              </a:rPr>
              <a:t>~1200 people (400 in each city)</a:t>
            </a:r>
          </a:p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  <a:latin typeface="Silka Medium" pitchFamily="2" charset="77"/>
                <a:cs typeface="Verdana"/>
              </a:rPr>
              <a:t>200 in areas of lower accessibility and 200 in areas of higher accessibility</a:t>
            </a:r>
          </a:p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tx1"/>
              </a:solidFill>
              <a:latin typeface="Silka Medium" pitchFamily="2" charset="77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endParaRPr lang="en-US" sz="1400" dirty="0">
              <a:latin typeface="Silka Medium" pitchFamily="2" charset="77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180"/>
              </a:spcBef>
            </a:pPr>
            <a:endParaRPr lang="es-ES" sz="1400" dirty="0">
              <a:latin typeface="Silka Medium" pitchFamily="2" charset="77"/>
              <a:cs typeface="Verdana"/>
            </a:endParaRP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DC9F845C-DA3F-7C38-2905-59B04D652801}"/>
              </a:ext>
            </a:extLst>
          </p:cNvPr>
          <p:cNvSpPr txBox="1"/>
          <p:nvPr/>
        </p:nvSpPr>
        <p:spPr>
          <a:xfrm>
            <a:off x="13623223" y="6263234"/>
            <a:ext cx="4507035" cy="22589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lang="en-US" sz="2700" b="1" spc="-114" dirty="0">
                <a:solidFill>
                  <a:srgbClr val="009F96"/>
                </a:solidFill>
                <a:latin typeface="Montserrat Black" pitchFamily="2" charset="77"/>
                <a:cs typeface="Arial Black"/>
              </a:rPr>
              <a:t>High resolution accessibility data</a:t>
            </a:r>
            <a:endParaRPr sz="2700" b="1" dirty="0">
              <a:latin typeface="Montserrat Black" pitchFamily="2" charset="77"/>
              <a:cs typeface="Arial Black"/>
            </a:endParaRPr>
          </a:p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Silka Bold" pitchFamily="2" charset="77"/>
                <a:cs typeface="Verdana"/>
              </a:rPr>
              <a:t>Based on residence location</a:t>
            </a:r>
          </a:p>
          <a:p>
            <a:pPr marL="298450" indent="-285750">
              <a:lnSpc>
                <a:spcPct val="100000"/>
              </a:lnSpc>
              <a:spcBef>
                <a:spcPts val="1180"/>
              </a:spcBef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Silka Bold" pitchFamily="2" charset="77"/>
                <a:cs typeface="Verdana"/>
              </a:rPr>
              <a:t>Number of shopping, entertainment and food destination within 15 minutes walk</a:t>
            </a:r>
            <a:endParaRPr lang="es-ES" dirty="0">
              <a:solidFill>
                <a:srgbClr val="FF0000"/>
              </a:solidFill>
              <a:latin typeface="Silka Medium" pitchFamily="2" charset="77"/>
              <a:cs typeface="Verdana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719E7C6-E616-321C-7693-33DB0377D6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7596" y="-114300"/>
            <a:ext cx="8806603" cy="586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7515" y="1714500"/>
            <a:ext cx="7045325" cy="13680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670"/>
              </a:lnSpc>
              <a:spcBef>
                <a:spcPts val="100"/>
              </a:spcBef>
            </a:pPr>
            <a:r>
              <a:rPr lang="en-US" b="1" spc="-220" dirty="0">
                <a:latin typeface="Montserrat" pitchFamily="2" charset="77"/>
              </a:rPr>
              <a:t>Survey data</a:t>
            </a:r>
            <a:br>
              <a:rPr lang="en-US" b="1" spc="-220" dirty="0">
                <a:latin typeface="Montserrat" pitchFamily="2" charset="77"/>
              </a:rPr>
            </a:br>
            <a:endParaRPr sz="2400" b="1" spc="-220" dirty="0">
              <a:latin typeface="Montserrat" pitchFamily="2" charset="77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2473" y="9234065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2473" y="3240683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18BFBAD-B94D-F454-63FC-B5B366C9B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7163176"/>
              </p:ext>
            </p:extLst>
          </p:nvPr>
        </p:nvGraphicFramePr>
        <p:xfrm>
          <a:off x="838200" y="3742888"/>
          <a:ext cx="15849600" cy="46729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08926">
                  <a:extLst>
                    <a:ext uri="{9D8B030D-6E8A-4147-A177-3AD203B41FA5}">
                      <a16:colId xmlns:a16="http://schemas.microsoft.com/office/drawing/2014/main" val="344951324"/>
                    </a:ext>
                  </a:extLst>
                </a:gridCol>
                <a:gridCol w="3143978">
                  <a:extLst>
                    <a:ext uri="{9D8B030D-6E8A-4147-A177-3AD203B41FA5}">
                      <a16:colId xmlns:a16="http://schemas.microsoft.com/office/drawing/2014/main" val="3058976620"/>
                    </a:ext>
                  </a:extLst>
                </a:gridCol>
                <a:gridCol w="2834096">
                  <a:extLst>
                    <a:ext uri="{9D8B030D-6E8A-4147-A177-3AD203B41FA5}">
                      <a16:colId xmlns:a16="http://schemas.microsoft.com/office/drawing/2014/main" val="1658572280"/>
                    </a:ext>
                  </a:extLst>
                </a:gridCol>
                <a:gridCol w="2843316">
                  <a:extLst>
                    <a:ext uri="{9D8B030D-6E8A-4147-A177-3AD203B41FA5}">
                      <a16:colId xmlns:a16="http://schemas.microsoft.com/office/drawing/2014/main" val="2630260784"/>
                    </a:ext>
                  </a:extLst>
                </a:gridCol>
                <a:gridCol w="2719284">
                  <a:extLst>
                    <a:ext uri="{9D8B030D-6E8A-4147-A177-3AD203B41FA5}">
                      <a16:colId xmlns:a16="http://schemas.microsoft.com/office/drawing/2014/main" val="2624726341"/>
                    </a:ext>
                  </a:extLst>
                </a:gridCol>
              </a:tblGrid>
              <a:tr h="4793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 dirty="0" err="1">
                          <a:effectLst/>
                          <a:latin typeface="Silka" pitchFamily="2" charset="77"/>
                        </a:rPr>
                        <a:t>Objective</a:t>
                      </a:r>
                      <a:r>
                        <a:rPr lang="es-ES" sz="2800" b="0" i="0" kern="0" dirty="0">
                          <a:effectLst/>
                          <a:latin typeface="Silka" pitchFamily="2" charset="77"/>
                        </a:rPr>
                        <a:t> </a:t>
                      </a:r>
                      <a:r>
                        <a:rPr lang="es-ES" sz="2800" b="0" i="0" kern="0" dirty="0" err="1">
                          <a:effectLst/>
                          <a:latin typeface="Silka" pitchFamily="2" charset="77"/>
                        </a:rPr>
                        <a:t>Accessibility</a:t>
                      </a:r>
                      <a:endParaRPr lang="en-CL" sz="2800" b="0" i="0" kern="100" dirty="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019F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 dirty="0" err="1">
                          <a:effectLst/>
                          <a:latin typeface="Silka" pitchFamily="2" charset="77"/>
                        </a:rPr>
                        <a:t>Daily</a:t>
                      </a:r>
                      <a:r>
                        <a:rPr lang="es-ES" sz="2800" b="0" i="0" kern="0" dirty="0">
                          <a:effectLst/>
                          <a:latin typeface="Silka" pitchFamily="2" charset="77"/>
                        </a:rPr>
                        <a:t> shopping </a:t>
                      </a:r>
                      <a:endParaRPr lang="en-CL" sz="2800" b="0" i="0" kern="100" dirty="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019F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 dirty="0">
                          <a:effectLst/>
                          <a:latin typeface="Silka" pitchFamily="2" charset="77"/>
                        </a:rPr>
                        <a:t>Non-</a:t>
                      </a:r>
                      <a:r>
                        <a:rPr lang="es-ES" sz="2800" b="0" i="0" kern="0" dirty="0" err="1">
                          <a:effectLst/>
                          <a:latin typeface="Silka" pitchFamily="2" charset="77"/>
                        </a:rPr>
                        <a:t>daily</a:t>
                      </a:r>
                      <a:r>
                        <a:rPr lang="es-ES" sz="2800" b="0" i="0" kern="0" dirty="0">
                          <a:effectLst/>
                          <a:latin typeface="Silka" pitchFamily="2" charset="77"/>
                        </a:rPr>
                        <a:t> shopping </a:t>
                      </a:r>
                      <a:endParaRPr lang="en-CL" sz="2800" b="0" i="0" kern="100" dirty="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019F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 dirty="0">
                          <a:effectLst/>
                          <a:latin typeface="Silka" pitchFamily="2" charset="77"/>
                        </a:rPr>
                        <a:t>Restaurants</a:t>
                      </a:r>
                      <a:endParaRPr lang="en-CL" sz="2800" b="0" i="0" kern="100" dirty="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019F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 dirty="0" err="1">
                          <a:effectLst/>
                          <a:latin typeface="Silka" pitchFamily="2" charset="77"/>
                        </a:rPr>
                        <a:t>Entertainment</a:t>
                      </a:r>
                      <a:r>
                        <a:rPr lang="es-ES" sz="2800" b="0" i="0" kern="0" dirty="0">
                          <a:effectLst/>
                          <a:latin typeface="Silka" pitchFamily="2" charset="77"/>
                        </a:rPr>
                        <a:t> </a:t>
                      </a:r>
                      <a:endParaRPr lang="en-CL" sz="2800" b="0" i="0" kern="100" dirty="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019F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1387733"/>
                  </a:ext>
                </a:extLst>
              </a:tr>
              <a:tr h="4633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Max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1316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1316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650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226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972248400"/>
                  </a:ext>
                </a:extLst>
              </a:tr>
              <a:tr h="4633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Min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1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1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0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4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550537403"/>
                  </a:ext>
                </a:extLst>
              </a:tr>
              <a:tr h="46335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Median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277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279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140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87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21368940"/>
                  </a:ext>
                </a:extLst>
              </a:tr>
              <a:tr h="4793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Mean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370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370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180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91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64829082"/>
                  </a:ext>
                </a:extLst>
              </a:tr>
              <a:tr h="4793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 dirty="0" err="1">
                          <a:solidFill>
                            <a:schemeClr val="bg1"/>
                          </a:solidFill>
                          <a:effectLst/>
                          <a:latin typeface="Silka" pitchFamily="2" charset="77"/>
                        </a:rPr>
                        <a:t>Perceived</a:t>
                      </a:r>
                      <a:r>
                        <a:rPr lang="es-ES" sz="2800" b="0" i="0" kern="0" dirty="0">
                          <a:solidFill>
                            <a:schemeClr val="bg1"/>
                          </a:solidFill>
                          <a:effectLst/>
                          <a:latin typeface="Silka" pitchFamily="2" charset="77"/>
                        </a:rPr>
                        <a:t> </a:t>
                      </a:r>
                      <a:r>
                        <a:rPr lang="es-ES" sz="2800" b="0" i="0" kern="0" dirty="0" err="1">
                          <a:solidFill>
                            <a:schemeClr val="bg1"/>
                          </a:solidFill>
                          <a:effectLst/>
                          <a:latin typeface="Silka" pitchFamily="2" charset="77"/>
                        </a:rPr>
                        <a:t>proximity</a:t>
                      </a:r>
                      <a:endParaRPr lang="en-CL" sz="2800" b="0" i="0" kern="100" dirty="0">
                        <a:solidFill>
                          <a:schemeClr val="bg1"/>
                        </a:solidFill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019F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solidFill>
                            <a:schemeClr val="bg1"/>
                          </a:solidFill>
                          <a:effectLst/>
                          <a:latin typeface="Silka" pitchFamily="2" charset="77"/>
                        </a:rPr>
                        <a:t> </a:t>
                      </a:r>
                      <a:endParaRPr lang="en-CL" sz="2800" b="0" i="0" kern="100">
                        <a:solidFill>
                          <a:schemeClr val="bg1"/>
                        </a:solidFill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019F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solidFill>
                            <a:schemeClr val="bg1"/>
                          </a:solidFill>
                          <a:effectLst/>
                          <a:latin typeface="Silka" pitchFamily="2" charset="77"/>
                        </a:rPr>
                        <a:t> </a:t>
                      </a:r>
                      <a:endParaRPr lang="en-CL" sz="2800" b="0" i="0" kern="100">
                        <a:solidFill>
                          <a:schemeClr val="bg1"/>
                        </a:solidFill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019F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solidFill>
                            <a:schemeClr val="bg1"/>
                          </a:solidFill>
                          <a:effectLst/>
                          <a:latin typeface="Silka" pitchFamily="2" charset="77"/>
                        </a:rPr>
                        <a:t> </a:t>
                      </a:r>
                      <a:endParaRPr lang="en-CL" sz="2800" b="0" i="0" kern="100">
                        <a:solidFill>
                          <a:schemeClr val="bg1"/>
                        </a:solidFill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019F9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 dirty="0">
                          <a:solidFill>
                            <a:schemeClr val="bg1"/>
                          </a:solidFill>
                          <a:effectLst/>
                          <a:latin typeface="Silka" pitchFamily="2" charset="77"/>
                        </a:rPr>
                        <a:t> </a:t>
                      </a:r>
                      <a:endParaRPr lang="en-CL" sz="2800" b="0" i="0" kern="100" dirty="0">
                        <a:solidFill>
                          <a:schemeClr val="bg1"/>
                        </a:solidFill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>
                    <a:solidFill>
                      <a:srgbClr val="019F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41529"/>
                  </a:ext>
                </a:extLst>
              </a:tr>
              <a:tr h="4793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Close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 dirty="0">
                          <a:effectLst/>
                          <a:latin typeface="Silka" pitchFamily="2" charset="77"/>
                        </a:rPr>
                        <a:t>94%</a:t>
                      </a:r>
                      <a:endParaRPr lang="en-CL" sz="2800" b="0" i="0" kern="100" dirty="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78%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85%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71%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965714279"/>
                  </a:ext>
                </a:extLst>
              </a:tr>
              <a:tr h="4793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Neither Close nor Far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3%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11%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7%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18%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859308819"/>
                  </a:ext>
                </a:extLst>
              </a:tr>
              <a:tr h="4793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Far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3%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11%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>
                          <a:effectLst/>
                          <a:latin typeface="Silka" pitchFamily="2" charset="77"/>
                        </a:rPr>
                        <a:t>8%</a:t>
                      </a:r>
                      <a:endParaRPr lang="en-CL" sz="2800" b="0" i="0" kern="10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ES" sz="2800" b="0" i="0" kern="0" dirty="0">
                          <a:effectLst/>
                          <a:latin typeface="Silka" pitchFamily="2" charset="77"/>
                        </a:rPr>
                        <a:t>11%</a:t>
                      </a:r>
                      <a:endParaRPr lang="en-CL" sz="2800" b="0" i="0" kern="100" dirty="0">
                        <a:effectLst/>
                        <a:latin typeface="Silka" pitchFamily="2" charset="77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147998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2338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2473" y="1714500"/>
            <a:ext cx="12939327" cy="13680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670"/>
              </a:lnSpc>
              <a:spcBef>
                <a:spcPts val="100"/>
              </a:spcBef>
            </a:pPr>
            <a:r>
              <a:rPr lang="en-US" sz="4800" b="1" spc="-220" dirty="0">
                <a:latin typeface="Montserrat" pitchFamily="2" charset="77"/>
              </a:rPr>
              <a:t>High spatial resolution environmental data</a:t>
            </a:r>
            <a:br>
              <a:rPr lang="en-US" b="1" spc="-220" dirty="0">
                <a:latin typeface="Montserrat" pitchFamily="2" charset="77"/>
              </a:rPr>
            </a:br>
            <a:r>
              <a:rPr lang="en-US" sz="2400" b="1" spc="-220" dirty="0" err="1">
                <a:latin typeface="Montserrat" pitchFamily="2" charset="77"/>
              </a:rPr>
              <a:t>Movactiva</a:t>
            </a:r>
            <a:r>
              <a:rPr lang="en-US" sz="2400" b="1" spc="-220" dirty="0">
                <a:latin typeface="Montserrat" pitchFamily="2" charset="77"/>
              </a:rPr>
              <a:t> data</a:t>
            </a:r>
            <a:endParaRPr sz="2400" b="1" spc="-220" dirty="0">
              <a:latin typeface="Montserrat" pitchFamily="2" charset="7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1419" y="3520109"/>
            <a:ext cx="8026023" cy="3367589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Grid of 100mx100m</a:t>
            </a: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endParaRPr lang="en-US" sz="2400" dirty="0">
              <a:latin typeface="Silka" pitchFamily="2" charset="77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15-min isochrones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Silka" pitchFamily="2" charset="77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Data from tax records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endParaRPr lang="en-US" sz="2400" dirty="0">
              <a:latin typeface="Silka" pitchFamily="2" charset="77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 err="1">
                <a:latin typeface="Silka" pitchFamily="2" charset="77"/>
                <a:cs typeface="Verdana"/>
              </a:rPr>
              <a:t>Movactiva.es</a:t>
            </a:r>
            <a:endParaRPr lang="en-US" sz="2400" dirty="0">
              <a:latin typeface="Silka" pitchFamily="2" charset="77"/>
              <a:cs typeface="Verdana"/>
            </a:endParaRP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endParaRPr lang="en-US" sz="2400" b="1" dirty="0">
              <a:latin typeface="Silka Bold" pitchFamily="2" charset="77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2473" y="9234065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2473" y="3240683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122" name="Picture 2" descr="Movilidad Activa en Granada: Caminabilidad, Ciclabilidad, Espacios Verdes, Vitalidad Urbana y Ciudad de los 15 Minutos.">
            <a:extLst>
              <a:ext uri="{FF2B5EF4-FFF2-40B4-BE49-F238E27FC236}">
                <a16:creationId xmlns:a16="http://schemas.microsoft.com/office/drawing/2014/main" id="{64299605-FFB3-1926-571D-5CB52D3C3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0" y="3021999"/>
            <a:ext cx="8734066" cy="6173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38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7515" y="1901862"/>
            <a:ext cx="6288685" cy="7437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670"/>
              </a:lnSpc>
              <a:spcBef>
                <a:spcPts val="100"/>
              </a:spcBef>
            </a:pPr>
            <a:r>
              <a:rPr lang="en-US" b="1" spc="-220" dirty="0">
                <a:latin typeface="Montserrat" pitchFamily="2" charset="77"/>
              </a:rPr>
              <a:t>First Analysis</a:t>
            </a:r>
            <a:endParaRPr b="1" spc="-220" dirty="0">
              <a:latin typeface="Montserrat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65F2FB-1A5A-3C75-FE65-9BC59F41C042}"/>
              </a:ext>
            </a:extLst>
          </p:cNvPr>
          <p:cNvSpPr/>
          <p:nvPr/>
        </p:nvSpPr>
        <p:spPr>
          <a:xfrm>
            <a:off x="9294216" y="1714500"/>
            <a:ext cx="7126884" cy="2590800"/>
          </a:xfrm>
          <a:prstGeom prst="rect">
            <a:avLst/>
          </a:prstGeom>
          <a:solidFill>
            <a:srgbClr val="019F97"/>
          </a:solidFill>
          <a:ln>
            <a:solidFill>
              <a:srgbClr val="019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lnSpc>
                <a:spcPct val="100000"/>
              </a:lnSpc>
              <a:spcBef>
                <a:spcPts val="420"/>
              </a:spcBef>
            </a:pPr>
            <a:r>
              <a:rPr lang="en-US" sz="2400" dirty="0">
                <a:latin typeface="Silka Light" pitchFamily="2" charset="77"/>
                <a:cs typeface="Verdana"/>
              </a:rPr>
              <a:t>Ordered logit for </a:t>
            </a:r>
            <a:r>
              <a:rPr lang="en-US" sz="2400" b="1" dirty="0">
                <a:latin typeface="Silka Bold" pitchFamily="2" charset="77"/>
                <a:cs typeface="Verdana"/>
              </a:rPr>
              <a:t>Perceived Proximity</a:t>
            </a:r>
          </a:p>
          <a:p>
            <a:pPr marL="12700" algn="ctr">
              <a:lnSpc>
                <a:spcPct val="100000"/>
              </a:lnSpc>
              <a:spcBef>
                <a:spcPts val="420"/>
              </a:spcBef>
            </a:pPr>
            <a:r>
              <a:rPr lang="en-US" sz="2400" dirty="0">
                <a:latin typeface="Silka" pitchFamily="2" charset="77"/>
                <a:cs typeface="Verdana"/>
              </a:rPr>
              <a:t>3-Levels: </a:t>
            </a:r>
            <a:r>
              <a:rPr lang="en-US" sz="2400" b="1" dirty="0">
                <a:solidFill>
                  <a:srgbClr val="FFFF00"/>
                </a:solidFill>
                <a:latin typeface="Silka Bold" pitchFamily="2" charset="77"/>
                <a:cs typeface="Verdana"/>
              </a:rPr>
              <a:t>Close </a:t>
            </a:r>
            <a:r>
              <a:rPr lang="en-US" sz="2400" dirty="0">
                <a:solidFill>
                  <a:srgbClr val="FFFF00"/>
                </a:solidFill>
                <a:latin typeface="Silka" pitchFamily="2" charset="77"/>
                <a:cs typeface="Verdana"/>
              </a:rPr>
              <a:t>- </a:t>
            </a:r>
            <a:r>
              <a:rPr lang="en-US" sz="2400" b="1" dirty="0">
                <a:solidFill>
                  <a:srgbClr val="FFFF00"/>
                </a:solidFill>
                <a:latin typeface="Silka Bold" pitchFamily="2" charset="77"/>
                <a:cs typeface="Verdana"/>
              </a:rPr>
              <a:t>neither Close nor Far - Far</a:t>
            </a:r>
          </a:p>
          <a:p>
            <a:pPr marL="12700" algn="ctr">
              <a:lnSpc>
                <a:spcPct val="100000"/>
              </a:lnSpc>
              <a:spcBef>
                <a:spcPts val="420"/>
              </a:spcBef>
            </a:pPr>
            <a:r>
              <a:rPr lang="en-US" sz="2400" dirty="0">
                <a:latin typeface="Silka" pitchFamily="2" charset="77"/>
                <a:cs typeface="Verdana"/>
              </a:rPr>
              <a:t>As function of </a:t>
            </a:r>
            <a:r>
              <a:rPr lang="en-US" sz="2400" b="1" dirty="0">
                <a:latin typeface="Silka Bold" pitchFamily="2" charset="77"/>
                <a:cs typeface="Verdana"/>
              </a:rPr>
              <a:t>Objective Accessibility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9C6DA3-9F6D-BFAF-4F7A-36C0E67FF3FC}"/>
              </a:ext>
            </a:extLst>
          </p:cNvPr>
          <p:cNvSpPr/>
          <p:nvPr/>
        </p:nvSpPr>
        <p:spPr>
          <a:xfrm>
            <a:off x="9484716" y="5143500"/>
            <a:ext cx="6745884" cy="3733800"/>
          </a:xfrm>
          <a:prstGeom prst="rect">
            <a:avLst/>
          </a:prstGeom>
          <a:solidFill>
            <a:srgbClr val="019F97"/>
          </a:solidFill>
          <a:ln>
            <a:solidFill>
              <a:srgbClr val="019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</a:pPr>
            <a:r>
              <a:rPr lang="en-US" sz="2400" dirty="0">
                <a:latin typeface="Silka" pitchFamily="2" charset="77"/>
                <a:cs typeface="Verdana"/>
              </a:rPr>
              <a:t>For </a:t>
            </a:r>
            <a:r>
              <a:rPr lang="en-US" sz="2400" dirty="0">
                <a:solidFill>
                  <a:srgbClr val="FF0000"/>
                </a:solidFill>
                <a:latin typeface="Silka" pitchFamily="2" charset="77"/>
                <a:cs typeface="Verdana"/>
              </a:rPr>
              <a:t>daily shopping</a:t>
            </a:r>
            <a:r>
              <a:rPr lang="en-US" sz="2400" dirty="0">
                <a:latin typeface="Silka" pitchFamily="2" charset="77"/>
                <a:cs typeface="Verdana"/>
              </a:rPr>
              <a:t>: Shopping destination within 15 minutes</a:t>
            </a: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</a:pPr>
            <a:r>
              <a:rPr lang="en-US" sz="2400" dirty="0">
                <a:latin typeface="Silka" pitchFamily="2" charset="77"/>
                <a:cs typeface="Verdana"/>
              </a:rPr>
              <a:t>For </a:t>
            </a:r>
            <a:r>
              <a:rPr lang="en-US" sz="2400" dirty="0">
                <a:solidFill>
                  <a:srgbClr val="FF0000"/>
                </a:solidFill>
                <a:latin typeface="Silka" pitchFamily="2" charset="77"/>
                <a:cs typeface="Verdana"/>
              </a:rPr>
              <a:t>non-daily shopping</a:t>
            </a:r>
            <a:r>
              <a:rPr lang="en-US" sz="2400" dirty="0">
                <a:latin typeface="Silka" pitchFamily="2" charset="77"/>
                <a:cs typeface="Verdana"/>
              </a:rPr>
              <a:t>: Shopping destinations within 15 minutes</a:t>
            </a: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</a:pPr>
            <a:r>
              <a:rPr lang="en-US" sz="2400" dirty="0">
                <a:latin typeface="Silka" pitchFamily="2" charset="77"/>
                <a:cs typeface="Verdana"/>
              </a:rPr>
              <a:t>For </a:t>
            </a:r>
            <a:r>
              <a:rPr lang="en-US" sz="2400" dirty="0">
                <a:solidFill>
                  <a:srgbClr val="FF0000"/>
                </a:solidFill>
                <a:latin typeface="Silka" pitchFamily="2" charset="77"/>
                <a:cs typeface="Verdana"/>
              </a:rPr>
              <a:t>restaurants</a:t>
            </a:r>
            <a:r>
              <a:rPr lang="en-US" sz="2400" dirty="0">
                <a:latin typeface="Silka" pitchFamily="2" charset="77"/>
                <a:cs typeface="Verdana"/>
              </a:rPr>
              <a:t>: Restaurants within 15 minutes</a:t>
            </a: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</a:pPr>
            <a:r>
              <a:rPr lang="en-US" sz="2400" dirty="0">
                <a:latin typeface="Silka" pitchFamily="2" charset="77"/>
                <a:cs typeface="Verdana"/>
              </a:rPr>
              <a:t>For </a:t>
            </a:r>
            <a:r>
              <a:rPr lang="en-US" sz="2400" dirty="0">
                <a:solidFill>
                  <a:srgbClr val="FF0000"/>
                </a:solidFill>
                <a:latin typeface="Silka" pitchFamily="2" charset="77"/>
                <a:cs typeface="Verdana"/>
              </a:rPr>
              <a:t>entertainment</a:t>
            </a:r>
            <a:r>
              <a:rPr lang="en-US" sz="2400" dirty="0">
                <a:latin typeface="Silka" pitchFamily="2" charset="77"/>
                <a:cs typeface="Verdana"/>
              </a:rPr>
              <a:t>: Entertainment destinations such as theaters or libraries within 15 minutes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C505FA-D1F5-C367-0620-45441389169A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12857658" y="4305300"/>
            <a:ext cx="0" cy="8382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bject 4">
            <a:extLst>
              <a:ext uri="{FF2B5EF4-FFF2-40B4-BE49-F238E27FC236}">
                <a16:creationId xmlns:a16="http://schemas.microsoft.com/office/drawing/2014/main" id="{F0F6426A-3AB9-9C7B-DBAE-42B0D6D7EA05}"/>
              </a:ext>
            </a:extLst>
          </p:cNvPr>
          <p:cNvSpPr txBox="1"/>
          <p:nvPr/>
        </p:nvSpPr>
        <p:spPr>
          <a:xfrm>
            <a:off x="777262" y="3281988"/>
            <a:ext cx="8026023" cy="4516621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Silka" pitchFamily="2" charset="77"/>
                <a:cs typeface="Verdana"/>
              </a:rPr>
              <a:t>Ordered logit: disaggregate choice model that determine the probability of an individual having a certain perception (when they are ordered) 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Silka Bold" pitchFamily="2" charset="77"/>
                <a:cs typeface="Verdana"/>
              </a:rPr>
              <a:t>Probability of perceived proximity </a:t>
            </a:r>
            <a:r>
              <a:rPr lang="en-US" sz="2800" dirty="0">
                <a:latin typeface="Silka" pitchFamily="2" charset="77"/>
                <a:cs typeface="Verdana"/>
              </a:rPr>
              <a:t>of certain destinations. Based on the </a:t>
            </a:r>
            <a:r>
              <a:rPr lang="en-US" sz="2800" b="1" dirty="0">
                <a:latin typeface="Silka Bold" pitchFamily="2" charset="77"/>
                <a:cs typeface="Verdana"/>
              </a:rPr>
              <a:t>quantity of destinations </a:t>
            </a:r>
            <a:r>
              <a:rPr lang="en-US" sz="2800" dirty="0">
                <a:latin typeface="Silka" pitchFamily="2" charset="77"/>
                <a:cs typeface="Verdana"/>
              </a:rPr>
              <a:t>within 15-min walk. 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Silka" pitchFamily="2" charset="77"/>
                <a:cs typeface="Verdana"/>
              </a:rPr>
              <a:t>Four types of destination for all cities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Silka" pitchFamily="2" charset="77"/>
                <a:cs typeface="Verdana"/>
              </a:rPr>
              <a:t>Analysis consists in seeing the probabilities versus objective accessibility</a:t>
            </a:r>
          </a:p>
        </p:txBody>
      </p:sp>
    </p:spTree>
    <p:extLst>
      <p:ext uri="{BB962C8B-B14F-4D97-AF65-F5344CB8AC3E}">
        <p14:creationId xmlns:p14="http://schemas.microsoft.com/office/powerpoint/2010/main" val="556993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7515" y="1714500"/>
            <a:ext cx="6288685" cy="1474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670"/>
              </a:lnSpc>
              <a:spcBef>
                <a:spcPts val="100"/>
              </a:spcBef>
            </a:pPr>
            <a:r>
              <a:rPr lang="en-US" b="1" spc="-220" dirty="0">
                <a:latin typeface="Montserrat" pitchFamily="2" charset="77"/>
              </a:rPr>
              <a:t>Proximity perception probability</a:t>
            </a:r>
            <a:endParaRPr b="1" spc="-220" dirty="0">
              <a:latin typeface="Montserrat" pitchFamily="2" charset="7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1419" y="3520109"/>
            <a:ext cx="8026023" cy="2741776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The perception level is more sensitive to </a:t>
            </a:r>
            <a:r>
              <a:rPr lang="en-US" sz="2400" b="1" dirty="0">
                <a:latin typeface="Silka Bold" pitchFamily="2" charset="77"/>
                <a:cs typeface="Verdana"/>
              </a:rPr>
              <a:t>restaurants</a:t>
            </a:r>
            <a:r>
              <a:rPr lang="en-US" sz="2400" dirty="0">
                <a:latin typeface="Silka" pitchFamily="2" charset="77"/>
                <a:cs typeface="Verdana"/>
              </a:rPr>
              <a:t> and </a:t>
            </a:r>
            <a:r>
              <a:rPr lang="en-US" sz="2400" b="1" dirty="0">
                <a:latin typeface="Silka Bold" pitchFamily="2" charset="77"/>
                <a:cs typeface="Verdana"/>
              </a:rPr>
              <a:t>non-daily shopping </a:t>
            </a:r>
            <a:r>
              <a:rPr lang="en-US" sz="2400" dirty="0">
                <a:latin typeface="Silka" pitchFamily="2" charset="77"/>
                <a:cs typeface="Verdana"/>
              </a:rPr>
              <a:t>are more sensitive to accessibility in lower levels.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These two appear to be more nonlinear than </a:t>
            </a:r>
            <a:r>
              <a:rPr lang="en-US" sz="2400" b="1" dirty="0">
                <a:latin typeface="Silka Bold" pitchFamily="2" charset="77"/>
                <a:cs typeface="Verdana"/>
              </a:rPr>
              <a:t>daily shopping </a:t>
            </a:r>
            <a:r>
              <a:rPr lang="en-US" sz="2400" dirty="0">
                <a:latin typeface="Silka" pitchFamily="2" charset="77"/>
                <a:cs typeface="Verdana"/>
              </a:rPr>
              <a:t>and </a:t>
            </a:r>
            <a:r>
              <a:rPr lang="en-US" sz="2400" b="1" dirty="0">
                <a:latin typeface="Silka Bold" pitchFamily="2" charset="77"/>
                <a:cs typeface="Verdana"/>
              </a:rPr>
              <a:t>entertainment.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In general, in this context, the majority of travelers feel like destinations are close</a:t>
            </a:r>
          </a:p>
        </p:txBody>
      </p:sp>
      <p:sp>
        <p:nvSpPr>
          <p:cNvPr id="6" name="object 6"/>
          <p:cNvSpPr/>
          <p:nvPr/>
        </p:nvSpPr>
        <p:spPr>
          <a:xfrm>
            <a:off x="1462473" y="9234065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2473" y="3240683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501C889F-06FE-0F2D-8F09-398D3DF977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443" y="492430"/>
            <a:ext cx="6775084" cy="94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510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7515" y="1714500"/>
            <a:ext cx="6288685" cy="1474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670"/>
              </a:lnSpc>
              <a:spcBef>
                <a:spcPts val="100"/>
              </a:spcBef>
            </a:pPr>
            <a:r>
              <a:rPr lang="en-US" b="1" spc="-220" dirty="0">
                <a:latin typeface="Montserrat" pitchFamily="2" charset="77"/>
              </a:rPr>
              <a:t>Proximity perception probability</a:t>
            </a:r>
            <a:endParaRPr b="1" spc="-220" dirty="0">
              <a:latin typeface="Montserrat" pitchFamily="2" charset="7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1419" y="3520109"/>
            <a:ext cx="8026023" cy="2741776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The perception level is more sensitive to </a:t>
            </a:r>
            <a:r>
              <a:rPr lang="en-US" sz="2400" b="1" dirty="0">
                <a:latin typeface="Silka Bold" pitchFamily="2" charset="77"/>
                <a:cs typeface="Verdana"/>
              </a:rPr>
              <a:t>restaurants</a:t>
            </a:r>
            <a:r>
              <a:rPr lang="en-US" sz="2400" dirty="0">
                <a:latin typeface="Silka" pitchFamily="2" charset="77"/>
                <a:cs typeface="Verdana"/>
              </a:rPr>
              <a:t> and </a:t>
            </a:r>
            <a:r>
              <a:rPr lang="en-US" sz="2400" b="1" dirty="0">
                <a:latin typeface="Silka Bold" pitchFamily="2" charset="77"/>
                <a:cs typeface="Verdana"/>
              </a:rPr>
              <a:t>non-daily shopping </a:t>
            </a:r>
            <a:r>
              <a:rPr lang="en-US" sz="2400" dirty="0">
                <a:latin typeface="Silka" pitchFamily="2" charset="77"/>
                <a:cs typeface="Verdana"/>
              </a:rPr>
              <a:t>are more sensitive to accessibility in lower levels.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These two appear to be more nonlinear than </a:t>
            </a:r>
            <a:r>
              <a:rPr lang="en-US" sz="2400" b="1" dirty="0">
                <a:latin typeface="Silka Bold" pitchFamily="2" charset="77"/>
                <a:cs typeface="Verdana"/>
              </a:rPr>
              <a:t>daily shopping </a:t>
            </a:r>
            <a:r>
              <a:rPr lang="en-US" sz="2400" dirty="0">
                <a:latin typeface="Silka" pitchFamily="2" charset="77"/>
                <a:cs typeface="Verdana"/>
              </a:rPr>
              <a:t>and </a:t>
            </a:r>
            <a:r>
              <a:rPr lang="en-US" sz="2400" b="1" dirty="0">
                <a:latin typeface="Silka Bold" pitchFamily="2" charset="77"/>
                <a:cs typeface="Verdana"/>
              </a:rPr>
              <a:t>entertainment.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In general, in this context, the majority of travelers feel like destinations are close</a:t>
            </a:r>
          </a:p>
        </p:txBody>
      </p:sp>
      <p:sp>
        <p:nvSpPr>
          <p:cNvPr id="6" name="object 6"/>
          <p:cNvSpPr/>
          <p:nvPr/>
        </p:nvSpPr>
        <p:spPr>
          <a:xfrm>
            <a:off x="1462473" y="9234065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2473" y="3240683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501C889F-06FE-0F2D-8F09-398D3DF977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443" y="492430"/>
            <a:ext cx="6775084" cy="948571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D7AC2BF-733C-5E17-89BB-4C280938F659}"/>
              </a:ext>
            </a:extLst>
          </p:cNvPr>
          <p:cNvSpPr/>
          <p:nvPr/>
        </p:nvSpPr>
        <p:spPr>
          <a:xfrm>
            <a:off x="11582400" y="876300"/>
            <a:ext cx="152400" cy="152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179909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7515" y="1714500"/>
            <a:ext cx="6288685" cy="14747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670"/>
              </a:lnSpc>
              <a:spcBef>
                <a:spcPts val="100"/>
              </a:spcBef>
            </a:pPr>
            <a:r>
              <a:rPr lang="en-US" b="1" spc="-220" dirty="0">
                <a:latin typeface="Montserrat" pitchFamily="2" charset="77"/>
              </a:rPr>
              <a:t>Proximity perception probability</a:t>
            </a:r>
            <a:endParaRPr b="1" spc="-220" dirty="0">
              <a:latin typeface="Montserrat" pitchFamily="2" charset="7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1419" y="3520109"/>
            <a:ext cx="8026023" cy="2741776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The perception level is more sensitive to </a:t>
            </a:r>
            <a:r>
              <a:rPr lang="en-US" sz="2400" b="1" dirty="0">
                <a:latin typeface="Silka Bold" pitchFamily="2" charset="77"/>
                <a:cs typeface="Verdana"/>
              </a:rPr>
              <a:t>restaurants</a:t>
            </a:r>
            <a:r>
              <a:rPr lang="en-US" sz="2400" dirty="0">
                <a:latin typeface="Silka" pitchFamily="2" charset="77"/>
                <a:cs typeface="Verdana"/>
              </a:rPr>
              <a:t> and </a:t>
            </a:r>
            <a:r>
              <a:rPr lang="en-US" sz="2400" b="1" dirty="0">
                <a:latin typeface="Silka Bold" pitchFamily="2" charset="77"/>
                <a:cs typeface="Verdana"/>
              </a:rPr>
              <a:t>non-daily shopping </a:t>
            </a:r>
            <a:r>
              <a:rPr lang="en-US" sz="2400" dirty="0">
                <a:latin typeface="Silka" pitchFamily="2" charset="77"/>
                <a:cs typeface="Verdana"/>
              </a:rPr>
              <a:t>are more sensitive to accessibility in lower levels.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These two appear to be more nonlinear than </a:t>
            </a:r>
            <a:r>
              <a:rPr lang="en-US" sz="2400" b="1" dirty="0">
                <a:latin typeface="Silka Bold" pitchFamily="2" charset="77"/>
                <a:cs typeface="Verdana"/>
              </a:rPr>
              <a:t>daily shopping </a:t>
            </a:r>
            <a:r>
              <a:rPr lang="en-US" sz="2400" dirty="0">
                <a:latin typeface="Silka" pitchFamily="2" charset="77"/>
                <a:cs typeface="Verdana"/>
              </a:rPr>
              <a:t>and </a:t>
            </a:r>
            <a:r>
              <a:rPr lang="en-US" sz="2400" b="1" dirty="0">
                <a:latin typeface="Silka Bold" pitchFamily="2" charset="77"/>
                <a:cs typeface="Verdana"/>
              </a:rPr>
              <a:t>entertainment.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In general, in this context, the majority of travelers feel like destinations are close</a:t>
            </a:r>
          </a:p>
        </p:txBody>
      </p:sp>
      <p:sp>
        <p:nvSpPr>
          <p:cNvPr id="6" name="object 6"/>
          <p:cNvSpPr/>
          <p:nvPr/>
        </p:nvSpPr>
        <p:spPr>
          <a:xfrm>
            <a:off x="1462473" y="9234065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2473" y="3240683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Picture 7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501C889F-06FE-0F2D-8F09-398D3DF977E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0443" y="492430"/>
            <a:ext cx="6775084" cy="9485714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2D7AC2BF-733C-5E17-89BB-4C280938F659}"/>
              </a:ext>
            </a:extLst>
          </p:cNvPr>
          <p:cNvSpPr/>
          <p:nvPr/>
        </p:nvSpPr>
        <p:spPr>
          <a:xfrm>
            <a:off x="11582400" y="7886700"/>
            <a:ext cx="152400" cy="1524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L"/>
          </a:p>
        </p:txBody>
      </p:sp>
    </p:spTree>
    <p:extLst>
      <p:ext uri="{BB962C8B-B14F-4D97-AF65-F5344CB8AC3E}">
        <p14:creationId xmlns:p14="http://schemas.microsoft.com/office/powerpoint/2010/main" val="3220751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7515" y="1901862"/>
            <a:ext cx="6288685" cy="74379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670"/>
              </a:lnSpc>
              <a:spcBef>
                <a:spcPts val="100"/>
              </a:spcBef>
            </a:pPr>
            <a:r>
              <a:rPr lang="en-US" b="1" spc="-220" dirty="0">
                <a:latin typeface="Montserrat" pitchFamily="2" charset="77"/>
              </a:rPr>
              <a:t>Second Analysis</a:t>
            </a:r>
            <a:endParaRPr b="1" spc="-220" dirty="0">
              <a:latin typeface="Montserrat" pitchFamily="2" charset="77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65F2FB-1A5A-3C75-FE65-9BC59F41C042}"/>
              </a:ext>
            </a:extLst>
          </p:cNvPr>
          <p:cNvSpPr/>
          <p:nvPr/>
        </p:nvSpPr>
        <p:spPr>
          <a:xfrm>
            <a:off x="9456642" y="1732613"/>
            <a:ext cx="6288684" cy="1524000"/>
          </a:xfrm>
          <a:prstGeom prst="rect">
            <a:avLst/>
          </a:prstGeom>
          <a:solidFill>
            <a:srgbClr val="019F97"/>
          </a:solidFill>
          <a:ln>
            <a:solidFill>
              <a:srgbClr val="019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 algn="ctr">
              <a:lnSpc>
                <a:spcPct val="100000"/>
              </a:lnSpc>
              <a:spcBef>
                <a:spcPts val="420"/>
              </a:spcBef>
            </a:pPr>
            <a:r>
              <a:rPr lang="en-US" sz="2000" dirty="0">
                <a:latin typeface="Silka Light" pitchFamily="2" charset="77"/>
                <a:cs typeface="Verdana"/>
              </a:rPr>
              <a:t>Binary logit for </a:t>
            </a:r>
            <a:r>
              <a:rPr lang="en-US" sz="2000" b="1" dirty="0">
                <a:latin typeface="Silka Bold" pitchFamily="2" charset="77"/>
                <a:cs typeface="Verdana"/>
              </a:rPr>
              <a:t>Mode choice</a:t>
            </a:r>
          </a:p>
          <a:p>
            <a:pPr marL="12700" algn="ctr">
              <a:lnSpc>
                <a:spcPct val="100000"/>
              </a:lnSpc>
              <a:spcBef>
                <a:spcPts val="420"/>
              </a:spcBef>
            </a:pPr>
            <a:r>
              <a:rPr lang="en-US" sz="2000" dirty="0">
                <a:latin typeface="Silka" pitchFamily="2" charset="77"/>
                <a:cs typeface="Verdana"/>
              </a:rPr>
              <a:t>2-Levels: </a:t>
            </a:r>
            <a:r>
              <a:rPr lang="en-US" sz="2000" b="1" dirty="0">
                <a:solidFill>
                  <a:srgbClr val="FFFF00"/>
                </a:solidFill>
                <a:latin typeface="Silka Bold" pitchFamily="2" charset="77"/>
                <a:cs typeface="Verdana"/>
              </a:rPr>
              <a:t>Walking or not</a:t>
            </a:r>
          </a:p>
          <a:p>
            <a:pPr marL="12700" algn="ctr">
              <a:lnSpc>
                <a:spcPct val="100000"/>
              </a:lnSpc>
              <a:spcBef>
                <a:spcPts val="420"/>
              </a:spcBef>
            </a:pPr>
            <a:r>
              <a:rPr lang="en-US" sz="2000" dirty="0">
                <a:latin typeface="Silka" pitchFamily="2" charset="77"/>
                <a:cs typeface="Verdana"/>
              </a:rPr>
              <a:t>As function of </a:t>
            </a:r>
            <a:r>
              <a:rPr lang="en-US" sz="2000" b="1" dirty="0">
                <a:latin typeface="Silka Bold" pitchFamily="2" charset="77"/>
                <a:cs typeface="Verdana"/>
              </a:rPr>
              <a:t>Objective Accessibility, Perceived Accessibility and Socioeconomic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C505FA-D1F5-C367-0620-45441389169A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12600984" y="3256613"/>
            <a:ext cx="147514" cy="4400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object 4">
            <a:extLst>
              <a:ext uri="{FF2B5EF4-FFF2-40B4-BE49-F238E27FC236}">
                <a16:creationId xmlns:a16="http://schemas.microsoft.com/office/drawing/2014/main" id="{F0F6426A-3AB9-9C7B-DBAE-42B0D6D7EA05}"/>
              </a:ext>
            </a:extLst>
          </p:cNvPr>
          <p:cNvSpPr txBox="1"/>
          <p:nvPr/>
        </p:nvSpPr>
        <p:spPr>
          <a:xfrm>
            <a:off x="777263" y="3281988"/>
            <a:ext cx="6403370" cy="4998804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Silka Bold" pitchFamily="2" charset="77"/>
                <a:cs typeface="Verdana"/>
              </a:rPr>
              <a:t>Binary choice model between Walking and other mode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800" b="1" dirty="0">
                <a:latin typeface="Silka Bold" pitchFamily="2" charset="77"/>
                <a:cs typeface="Verdana"/>
              </a:rPr>
              <a:t>Three specification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Silka" pitchFamily="2" charset="77"/>
                <a:cs typeface="Verdana"/>
              </a:rPr>
              <a:t>Four types of destination in all three cities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Silka" pitchFamily="2" charset="77"/>
                <a:cs typeface="Verdana"/>
              </a:rPr>
              <a:t>Test goodness of fitness across models types within each group of destinations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Silka" pitchFamily="2" charset="77"/>
                <a:cs typeface="Verdana"/>
              </a:rPr>
              <a:t>Test marginal effects of perceived and objective accessibility across model types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58771C-5764-E7DB-ADC6-124B62892F44}"/>
              </a:ext>
            </a:extLst>
          </p:cNvPr>
          <p:cNvSpPr/>
          <p:nvPr/>
        </p:nvSpPr>
        <p:spPr>
          <a:xfrm>
            <a:off x="8803286" y="3696702"/>
            <a:ext cx="7890424" cy="1726532"/>
          </a:xfrm>
          <a:prstGeom prst="rect">
            <a:avLst/>
          </a:prstGeom>
          <a:solidFill>
            <a:srgbClr val="019F97"/>
          </a:solidFill>
          <a:ln>
            <a:solidFill>
              <a:srgbClr val="019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lang="en-US" sz="2000" dirty="0">
                <a:latin typeface="Silka" pitchFamily="2" charset="77"/>
                <a:cs typeface="Verdana"/>
              </a:rPr>
              <a:t>Three model specifications</a:t>
            </a:r>
          </a:p>
          <a:p>
            <a:pPr marL="355600" lvl="2" indent="-342900">
              <a:spcBef>
                <a:spcPts val="420"/>
              </a:spcBef>
              <a:buFont typeface="+mj-lt"/>
              <a:buAutoNum type="arabicPeriod"/>
            </a:pPr>
            <a:r>
              <a:rPr lang="en-US" sz="2000" dirty="0">
                <a:latin typeface="Silka" pitchFamily="2" charset="77"/>
                <a:cs typeface="Verdana"/>
              </a:rPr>
              <a:t>Objective accessibility + </a:t>
            </a:r>
            <a:r>
              <a:rPr lang="en-US" sz="2000" dirty="0" err="1">
                <a:latin typeface="Silka" pitchFamily="2" charset="77"/>
                <a:cs typeface="Verdana"/>
              </a:rPr>
              <a:t>Sociodemographics</a:t>
            </a:r>
            <a:r>
              <a:rPr lang="en-US" sz="2000" dirty="0">
                <a:latin typeface="Silka" pitchFamily="2" charset="77"/>
                <a:cs typeface="Verdana"/>
              </a:rPr>
              <a:t> </a:t>
            </a:r>
          </a:p>
          <a:p>
            <a:pPr marL="355600" lvl="2" indent="-342900">
              <a:spcBef>
                <a:spcPts val="420"/>
              </a:spcBef>
              <a:buFont typeface="+mj-lt"/>
              <a:buAutoNum type="arabicPeriod"/>
            </a:pPr>
            <a:r>
              <a:rPr lang="en-US" sz="2000" dirty="0">
                <a:latin typeface="Silka" pitchFamily="2" charset="77"/>
                <a:cs typeface="Verdana"/>
              </a:rPr>
              <a:t>Perceived accessibility + </a:t>
            </a:r>
            <a:r>
              <a:rPr lang="en-US" sz="2000" dirty="0" err="1">
                <a:latin typeface="Silka" pitchFamily="2" charset="77"/>
                <a:cs typeface="Verdana"/>
              </a:rPr>
              <a:t>Sociodemographics</a:t>
            </a:r>
            <a:endParaRPr lang="en-US" sz="2000" dirty="0">
              <a:latin typeface="Silka" pitchFamily="2" charset="77"/>
              <a:cs typeface="Verdana"/>
            </a:endParaRPr>
          </a:p>
          <a:p>
            <a:pPr marL="355600" lvl="2" indent="-342900">
              <a:spcBef>
                <a:spcPts val="420"/>
              </a:spcBef>
              <a:buFont typeface="+mj-lt"/>
              <a:buAutoNum type="arabicPeriod"/>
            </a:pPr>
            <a:r>
              <a:rPr lang="en-US" sz="2000" dirty="0">
                <a:latin typeface="Silka" pitchFamily="2" charset="77"/>
                <a:cs typeface="Verdana"/>
              </a:rPr>
              <a:t>Objective accessibility + Perceived </a:t>
            </a:r>
            <a:r>
              <a:rPr lang="en-US" sz="2000" dirty="0" err="1">
                <a:latin typeface="Silka" pitchFamily="2" charset="77"/>
                <a:cs typeface="Verdana"/>
              </a:rPr>
              <a:t>Accesibility</a:t>
            </a:r>
            <a:r>
              <a:rPr lang="en-US" sz="2000" dirty="0">
                <a:latin typeface="Silka" pitchFamily="2" charset="77"/>
                <a:cs typeface="Verdana"/>
              </a:rPr>
              <a:t> + </a:t>
            </a:r>
            <a:r>
              <a:rPr lang="en-US" sz="2000" dirty="0" err="1">
                <a:latin typeface="Silka" pitchFamily="2" charset="77"/>
                <a:cs typeface="Verdana"/>
              </a:rPr>
              <a:t>Sociodemographics</a:t>
            </a:r>
            <a:endParaRPr lang="en-US" sz="2000" dirty="0">
              <a:latin typeface="Silka" pitchFamily="2" charset="77"/>
              <a:cs typeface="Verdana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338396-0142-2420-A996-942535A625E8}"/>
              </a:ext>
            </a:extLst>
          </p:cNvPr>
          <p:cNvCxnSpPr>
            <a:cxnSpLocks/>
          </p:cNvCxnSpPr>
          <p:nvPr/>
        </p:nvCxnSpPr>
        <p:spPr>
          <a:xfrm>
            <a:off x="12600984" y="5423234"/>
            <a:ext cx="0" cy="116806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D74FC203-0DE0-1E89-ED28-7AE75FAB64EA}"/>
              </a:ext>
            </a:extLst>
          </p:cNvPr>
          <p:cNvSpPr/>
          <p:nvPr/>
        </p:nvSpPr>
        <p:spPr>
          <a:xfrm>
            <a:off x="9456642" y="6591300"/>
            <a:ext cx="6288684" cy="2590800"/>
          </a:xfrm>
          <a:prstGeom prst="rect">
            <a:avLst/>
          </a:prstGeom>
          <a:solidFill>
            <a:srgbClr val="019F97"/>
          </a:solidFill>
          <a:ln>
            <a:solidFill>
              <a:srgbClr val="019F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</a:pPr>
            <a:r>
              <a:rPr lang="en-US" dirty="0">
                <a:latin typeface="Silka" pitchFamily="2" charset="77"/>
                <a:cs typeface="Verdana"/>
              </a:rPr>
              <a:t>For </a:t>
            </a:r>
            <a:r>
              <a:rPr lang="en-US" dirty="0">
                <a:solidFill>
                  <a:srgbClr val="FF0000"/>
                </a:solidFill>
                <a:latin typeface="Silka" pitchFamily="2" charset="77"/>
                <a:cs typeface="Verdana"/>
              </a:rPr>
              <a:t>daily shopping</a:t>
            </a:r>
            <a:r>
              <a:rPr lang="en-US" dirty="0">
                <a:latin typeface="Silka" pitchFamily="2" charset="77"/>
                <a:cs typeface="Verdana"/>
              </a:rPr>
              <a:t>: Shopping destination within 15 minutes</a:t>
            </a: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</a:pPr>
            <a:r>
              <a:rPr lang="en-US" dirty="0">
                <a:latin typeface="Silka" pitchFamily="2" charset="77"/>
                <a:cs typeface="Verdana"/>
              </a:rPr>
              <a:t>For </a:t>
            </a:r>
            <a:r>
              <a:rPr lang="en-US" dirty="0">
                <a:solidFill>
                  <a:srgbClr val="FF0000"/>
                </a:solidFill>
                <a:latin typeface="Silka" pitchFamily="2" charset="77"/>
                <a:cs typeface="Verdana"/>
              </a:rPr>
              <a:t>non-daily shopping</a:t>
            </a:r>
            <a:r>
              <a:rPr lang="en-US" dirty="0">
                <a:latin typeface="Silka" pitchFamily="2" charset="77"/>
                <a:cs typeface="Verdana"/>
              </a:rPr>
              <a:t>: Shopping destinations within 15 minutes</a:t>
            </a: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</a:pPr>
            <a:r>
              <a:rPr lang="en-US" dirty="0">
                <a:latin typeface="Silka" pitchFamily="2" charset="77"/>
                <a:cs typeface="Verdana"/>
              </a:rPr>
              <a:t>For </a:t>
            </a:r>
            <a:r>
              <a:rPr lang="en-US" dirty="0">
                <a:solidFill>
                  <a:srgbClr val="FF0000"/>
                </a:solidFill>
                <a:latin typeface="Silka" pitchFamily="2" charset="77"/>
                <a:cs typeface="Verdana"/>
              </a:rPr>
              <a:t>restaurants</a:t>
            </a:r>
            <a:r>
              <a:rPr lang="en-US" dirty="0">
                <a:latin typeface="Silka" pitchFamily="2" charset="77"/>
                <a:cs typeface="Verdana"/>
              </a:rPr>
              <a:t>: Restaurants within 15 minutes</a:t>
            </a: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</a:pPr>
            <a:r>
              <a:rPr lang="en-US" dirty="0">
                <a:latin typeface="Silka" pitchFamily="2" charset="77"/>
                <a:cs typeface="Verdana"/>
              </a:rPr>
              <a:t>For </a:t>
            </a:r>
            <a:r>
              <a:rPr lang="en-US" dirty="0">
                <a:solidFill>
                  <a:srgbClr val="FF0000"/>
                </a:solidFill>
                <a:latin typeface="Silka" pitchFamily="2" charset="77"/>
                <a:cs typeface="Verdana"/>
              </a:rPr>
              <a:t>entertainment</a:t>
            </a:r>
            <a:r>
              <a:rPr lang="en-US" dirty="0">
                <a:latin typeface="Silka" pitchFamily="2" charset="77"/>
                <a:cs typeface="Verdana"/>
              </a:rPr>
              <a:t>: Entertainment destinations such as theaters or libraries within 15 minutes</a:t>
            </a:r>
          </a:p>
          <a:p>
            <a:pPr marL="355600" indent="-342900">
              <a:lnSpc>
                <a:spcPct val="100000"/>
              </a:lnSpc>
              <a:spcBef>
                <a:spcPts val="420"/>
              </a:spcBef>
              <a:buFont typeface="+mj-lt"/>
              <a:buAutoNum type="arabicPeriod"/>
            </a:pPr>
            <a:endParaRPr lang="en-US" dirty="0">
              <a:latin typeface="Silka" pitchFamily="2" charset="77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217566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7515" y="1714500"/>
            <a:ext cx="7045325" cy="13680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670"/>
              </a:lnSpc>
              <a:spcBef>
                <a:spcPts val="100"/>
              </a:spcBef>
            </a:pPr>
            <a:r>
              <a:rPr lang="en-US" b="1" spc="-220" dirty="0">
                <a:latin typeface="Montserrat" pitchFamily="2" charset="77"/>
              </a:rPr>
              <a:t>Mode choice</a:t>
            </a:r>
            <a:br>
              <a:rPr lang="en-US" b="1" spc="-220" dirty="0">
                <a:latin typeface="Montserrat" pitchFamily="2" charset="77"/>
              </a:rPr>
            </a:br>
            <a:r>
              <a:rPr lang="en-US" sz="2400" b="1" spc="-220" dirty="0">
                <a:latin typeface="Montserrat" pitchFamily="2" charset="77"/>
              </a:rPr>
              <a:t>Dependent in perceived and objective accessibility</a:t>
            </a:r>
            <a:endParaRPr sz="2400" b="1" spc="-220" dirty="0">
              <a:latin typeface="Montserrat" pitchFamily="2" charset="7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1419" y="3520109"/>
            <a:ext cx="8026023" cy="3531736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Model 3 with both objective and perceived accessibility yield better fit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Objective accessibility is more explanatory in shopping trips (either non-daily and daily) and to a lesser degree for entertainment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" pitchFamily="2" charset="77"/>
                <a:cs typeface="Verdana"/>
              </a:rPr>
              <a:t>Perceived accessibility appears to b more relevant than Objective accessibility for the case of cars.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endParaRPr lang="en-US" sz="2400" b="1" dirty="0">
              <a:latin typeface="Silka Bold" pitchFamily="2" charset="77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62473" y="9234065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2473" y="3240683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Picture 2" descr="A screenshot of a graph&#10;&#10;Description automatically generated">
            <a:extLst>
              <a:ext uri="{FF2B5EF4-FFF2-40B4-BE49-F238E27FC236}">
                <a16:creationId xmlns:a16="http://schemas.microsoft.com/office/drawing/2014/main" id="{911BC95B-184D-2CE2-AFAA-17A4D0DD5E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0" y="497483"/>
            <a:ext cx="6288684" cy="943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694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/>
          <p:nvPr/>
        </p:nvSpPr>
        <p:spPr>
          <a:xfrm>
            <a:off x="1462473" y="9234065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2473" y="3240683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Picture 4" descr="A graph with black dots&#10;&#10;Description automatically generated">
            <a:extLst>
              <a:ext uri="{FF2B5EF4-FFF2-40B4-BE49-F238E27FC236}">
                <a16:creationId xmlns:a16="http://schemas.microsoft.com/office/drawing/2014/main" id="{5EBC9DD1-B97E-E037-67A9-B1CC75F241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561" y="760721"/>
            <a:ext cx="8055840" cy="9398864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71599" y="1707221"/>
            <a:ext cx="9489085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b="1" spc="-220" dirty="0">
                <a:latin typeface="Montserrat" pitchFamily="2" charset="77"/>
              </a:rPr>
              <a:t>Average Marginal Effects</a:t>
            </a:r>
            <a:br>
              <a:rPr lang="en-US" b="1" spc="-220" dirty="0">
                <a:latin typeface="Montserrat" pitchFamily="2" charset="77"/>
              </a:rPr>
            </a:br>
            <a:r>
              <a:rPr lang="en-US" sz="2400" b="1" spc="-220" dirty="0">
                <a:latin typeface="Montserrat" pitchFamily="2" charset="77"/>
              </a:rPr>
              <a:t>Change in walking probability due to changes </a:t>
            </a:r>
            <a:br>
              <a:rPr lang="en-US" sz="2400" b="1" spc="-220" dirty="0">
                <a:latin typeface="Montserrat" pitchFamily="2" charset="77"/>
              </a:rPr>
            </a:br>
            <a:r>
              <a:rPr lang="en-US" sz="2400" b="1" spc="-220" dirty="0">
                <a:latin typeface="Montserrat" pitchFamily="2" charset="77"/>
              </a:rPr>
              <a:t>in one unit of the independent attribute</a:t>
            </a:r>
            <a:endParaRPr sz="2400" b="1" spc="-220" dirty="0">
              <a:latin typeface="Montserrat" pitchFamily="2" charset="7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1420" y="3520109"/>
            <a:ext cx="7459140" cy="3901068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 Medium" pitchFamily="2" charset="77"/>
                <a:cs typeface="Verdana"/>
              </a:rPr>
              <a:t>For example, a change in 1 shopping destination is associated wit an increase of 0.05% increase in walking probability.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 Medium" pitchFamily="2" charset="77"/>
                <a:cs typeface="Verdana"/>
              </a:rPr>
              <a:t>When objective accessibility is not included in the model, perceived accessibility becomes more relevant.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latin typeface="Silka Medium" pitchFamily="2" charset="77"/>
                <a:cs typeface="Verdana"/>
              </a:rPr>
              <a:t>This effect is not as clear when objective accessibility is included but not perceived accessibility.</a:t>
            </a:r>
          </a:p>
          <a:p>
            <a:pPr marL="298450" indent="-285750">
              <a:lnSpc>
                <a:spcPct val="100000"/>
              </a:lnSpc>
              <a:spcBef>
                <a:spcPts val="420"/>
              </a:spcBef>
              <a:buFont typeface="Arial" panose="020B0604020202020204" pitchFamily="34" charset="0"/>
              <a:buChar char="•"/>
            </a:pPr>
            <a:endParaRPr lang="en-US" sz="2400" b="1" dirty="0">
              <a:latin typeface="Silka Bold" pitchFamily="2" charset="77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7904849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07515" y="1901862"/>
            <a:ext cx="3839493" cy="11669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670"/>
              </a:lnSpc>
              <a:spcBef>
                <a:spcPts val="100"/>
              </a:spcBef>
            </a:pPr>
            <a:r>
              <a:rPr lang="en-US" b="1" spc="-220" dirty="0">
                <a:latin typeface="Montserrat" pitchFamily="2" charset="77"/>
              </a:rPr>
              <a:t>Discussion</a:t>
            </a:r>
            <a:endParaRPr b="1" spc="-220" dirty="0">
              <a:latin typeface="Montserrat" pitchFamily="2" charset="77"/>
            </a:endParaRPr>
          </a:p>
          <a:p>
            <a:pPr marL="54610">
              <a:lnSpc>
                <a:spcPts val="3270"/>
              </a:lnSpc>
            </a:pPr>
            <a:endParaRPr sz="2800" b="1" dirty="0">
              <a:latin typeface="Montserrat" pitchFamily="2" charset="7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07515" y="3554624"/>
            <a:ext cx="8026023" cy="4260141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98450" indent="-285750"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Silka Medium" pitchFamily="2" charset="77"/>
                <a:cs typeface="Verdana"/>
              </a:rPr>
              <a:t>High objective local accessibility tends to align well with high proximity perception.</a:t>
            </a:r>
          </a:p>
          <a:p>
            <a:pPr marL="298450" indent="-285750"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Silka Medium" pitchFamily="2" charset="77"/>
                <a:cs typeface="Verdana"/>
              </a:rPr>
              <a:t>This finding suggests the existence of a certain threshold in objective accessibility where it aligns with high proximity perception.</a:t>
            </a:r>
          </a:p>
          <a:p>
            <a:pPr marL="298450" indent="-285750"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Silka Medium" pitchFamily="2" charset="77"/>
                <a:cs typeface="Verdana"/>
              </a:rPr>
              <a:t>Additionally, perception plays an important role in modal choice.</a:t>
            </a:r>
          </a:p>
          <a:p>
            <a:pPr marL="298450" indent="-285750"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Silka Medium" pitchFamily="2" charset="77"/>
                <a:cs typeface="Verdana"/>
              </a:rPr>
              <a:t>However, objective accessibility tends to have a relatively consistent effect whether perceived proximity is considered or not in the behavioral model.</a:t>
            </a:r>
          </a:p>
          <a:p>
            <a:pPr marL="298450" indent="-285750">
              <a:spcBef>
                <a:spcPts val="42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Silka Medium" pitchFamily="2" charset="77"/>
                <a:cs typeface="Verdana"/>
              </a:rPr>
              <a:t>Finally, the relative importance of perceived proximity will depend on the type of activity, as its relevance can change between activity types.</a:t>
            </a:r>
          </a:p>
        </p:txBody>
      </p:sp>
      <p:sp>
        <p:nvSpPr>
          <p:cNvPr id="6" name="object 6"/>
          <p:cNvSpPr/>
          <p:nvPr/>
        </p:nvSpPr>
        <p:spPr>
          <a:xfrm>
            <a:off x="1462473" y="9234065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462473" y="3240683"/>
            <a:ext cx="7045325" cy="0"/>
          </a:xfrm>
          <a:custGeom>
            <a:avLst/>
            <a:gdLst/>
            <a:ahLst/>
            <a:cxnLst/>
            <a:rect l="l" t="t" r="r" b="b"/>
            <a:pathLst>
              <a:path w="7045325">
                <a:moveTo>
                  <a:pt x="7045261" y="0"/>
                </a:moveTo>
                <a:lnTo>
                  <a:pt x="0" y="0"/>
                </a:lnTo>
              </a:path>
            </a:pathLst>
          </a:custGeom>
          <a:ln w="12700">
            <a:solidFill>
              <a:srgbClr val="009F9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C464977F-9BAE-2623-AB28-2CE121210B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L"/>
          </a:p>
        </p:txBody>
      </p:sp>
      <p:pic>
        <p:nvPicPr>
          <p:cNvPr id="10" name="Picture 9" descr="A city with many buildings&#10;&#10;Description automatically generated">
            <a:extLst>
              <a:ext uri="{FF2B5EF4-FFF2-40B4-BE49-F238E27FC236}">
                <a16:creationId xmlns:a16="http://schemas.microsoft.com/office/drawing/2014/main" id="{909CF690-EA52-B2E5-6158-A2C4A80634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479912"/>
            <a:ext cx="8127988" cy="609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35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tge 5" descr="Imatge que conté text, captura de pantalla, Gràfics, disseny gràfic&#10;&#10;Descripció generada automàticament">
            <a:extLst>
              <a:ext uri="{FF2B5EF4-FFF2-40B4-BE49-F238E27FC236}">
                <a16:creationId xmlns:a16="http://schemas.microsoft.com/office/drawing/2014/main" id="{4BAA99D7-5174-D121-5C8D-BEB6A041AC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2" y="342900"/>
            <a:ext cx="18288000" cy="10287000"/>
          </a:xfrm>
          <a:prstGeom prst="rect">
            <a:avLst/>
          </a:prstGeom>
        </p:spPr>
      </p:pic>
      <p:sp>
        <p:nvSpPr>
          <p:cNvPr id="2" name="object 2">
            <a:extLst>
              <a:ext uri="{FF2B5EF4-FFF2-40B4-BE49-F238E27FC236}">
                <a16:creationId xmlns:a16="http://schemas.microsoft.com/office/drawing/2014/main" id="{612DEDF5-AA96-8C47-FB4A-E8DB001D4C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991600" y="2933700"/>
            <a:ext cx="7924800" cy="22057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5670"/>
              </a:lnSpc>
              <a:spcBef>
                <a:spcPts val="100"/>
              </a:spcBef>
            </a:pPr>
            <a:r>
              <a:rPr lang="en-US" b="1" spc="-220" dirty="0">
                <a:solidFill>
                  <a:schemeClr val="bg1"/>
                </a:solidFill>
                <a:latin typeface="Montserrat" pitchFamily="2" charset="77"/>
              </a:rPr>
              <a:t>Thank you!</a:t>
            </a:r>
            <a:br>
              <a:rPr lang="en-US" b="1" spc="-220" dirty="0">
                <a:solidFill>
                  <a:schemeClr val="bg1"/>
                </a:solidFill>
                <a:latin typeface="Montserrat" pitchFamily="2" charset="77"/>
              </a:rPr>
            </a:br>
            <a:r>
              <a:rPr lang="en-US" b="1" i="1" spc="-220" dirty="0">
                <a:solidFill>
                  <a:schemeClr val="bg1"/>
                </a:solidFill>
                <a:latin typeface="Silka SemiBold" pitchFamily="2" charset="77"/>
                <a:hlinkClick r:id="rId4"/>
              </a:rPr>
              <a:t>jaime.orrego@uab.cat</a:t>
            </a:r>
            <a:br>
              <a:rPr lang="en-US" b="1" i="1" spc="-220" dirty="0">
                <a:solidFill>
                  <a:schemeClr val="bg1"/>
                </a:solidFill>
                <a:latin typeface="Silka SemiBold" pitchFamily="2" charset="77"/>
              </a:rPr>
            </a:br>
            <a:r>
              <a:rPr lang="en-US" b="1" spc="-220" dirty="0">
                <a:solidFill>
                  <a:schemeClr val="bg1"/>
                </a:solidFill>
                <a:latin typeface="Silka SemiBold" pitchFamily="2" charset="77"/>
              </a:rPr>
              <a:t>https://</a:t>
            </a:r>
            <a:r>
              <a:rPr lang="en-US" b="1" spc="-220" dirty="0" err="1">
                <a:solidFill>
                  <a:schemeClr val="bg1"/>
                </a:solidFill>
                <a:latin typeface="Silka SemiBold" pitchFamily="2" charset="77"/>
              </a:rPr>
              <a:t>gemott-uab.cat</a:t>
            </a:r>
            <a:r>
              <a:rPr lang="en-US" b="1" spc="-220" dirty="0">
                <a:solidFill>
                  <a:schemeClr val="bg1"/>
                </a:solidFill>
                <a:latin typeface="Silka SemiBold" pitchFamily="2" charset="77"/>
              </a:rPr>
              <a:t>/</a:t>
            </a:r>
            <a:endParaRPr sz="2800" b="1" dirty="0"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94292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c8817e0-d584-4995-8c2c-b94a61e5756a">
      <UserInfo>
        <DisplayName/>
        <AccountId xsi:nil="true"/>
        <AccountType/>
      </UserInfo>
    </SharedWithUsers>
    <lcf76f155ced4ddcb4097134ff3c332f xmlns="113e0d66-2914-40e2-96fe-ab5f286d3b12">
      <Terms xmlns="http://schemas.microsoft.com/office/infopath/2007/PartnerControls"/>
    </lcf76f155ced4ddcb4097134ff3c332f>
    <TaxCatchAll xmlns="7c8817e0-d584-4995-8c2c-b94a61e5756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8C2E77B3FF4642AD4A10741A6F5C3D" ma:contentTypeVersion="15" ma:contentTypeDescription="Crea un document nou" ma:contentTypeScope="" ma:versionID="5fbc69e642a2a34f5e34385f089e701e">
  <xsd:schema xmlns:xsd="http://www.w3.org/2001/XMLSchema" xmlns:xs="http://www.w3.org/2001/XMLSchema" xmlns:p="http://schemas.microsoft.com/office/2006/metadata/properties" xmlns:ns2="113e0d66-2914-40e2-96fe-ab5f286d3b12" xmlns:ns3="7c8817e0-d584-4995-8c2c-b94a61e5756a" targetNamespace="http://schemas.microsoft.com/office/2006/metadata/properties" ma:root="true" ma:fieldsID="aa1e881fcfdcf7d76a95b7745693fb5f" ns2:_="" ns3:_="">
    <xsd:import namespace="113e0d66-2914-40e2-96fe-ab5f286d3b12"/>
    <xsd:import namespace="7c8817e0-d584-4995-8c2c-b94a61e575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TaxCatchAll" minOccurs="0"/>
                <xsd:element ref="ns2:lcf76f155ced4ddcb4097134ff3c332f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3e0d66-2914-40e2-96fe-ab5f286d3b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Etiquetes de la imatge" ma:readOnly="false" ma:fieldId="{5cf76f15-5ced-4ddc-b409-7134ff3c332f}" ma:taxonomyMulti="true" ma:sspId="34c01127-bdf0-454e-9077-a20ba63b60e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8817e0-d584-4995-8c2c-b94a61e5756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9dba818-b391-4ac3-a62f-aefea92984a0}" ma:internalName="TaxCatchAll" ma:showField="CatchAllData" ma:web="7c8817e0-d584-4995-8c2c-b94a61e575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Compartit amb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'ha compartit amb detal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us de contingut"/>
        <xsd:element ref="dc:title" minOccurs="0" maxOccurs="1" ma:index="4" ma:displayName="Títo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E38B6EE-825E-492A-906D-A31932B794A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24A1C6B-DD8F-42DF-BE03-BBEEB950EA1C}">
  <ds:schemaRefs>
    <ds:schemaRef ds:uri="http://purl.org/dc/elements/1.1/"/>
    <ds:schemaRef ds:uri="http://schemas.microsoft.com/office/2006/documentManagement/types"/>
    <ds:schemaRef ds:uri="7c8817e0-d584-4995-8c2c-b94a61e5756a"/>
    <ds:schemaRef ds:uri="http://schemas.microsoft.com/office/2006/metadata/properties"/>
    <ds:schemaRef ds:uri="http://www.w3.org/XML/1998/namespace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113e0d66-2914-40e2-96fe-ab5f286d3b1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540619E2-83C1-4812-AF6E-DBE611107C0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3e0d66-2914-40e2-96fe-ab5f286d3b12"/>
    <ds:schemaRef ds:uri="7c8817e0-d584-4995-8c2c-b94a61e575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32080</TotalTime>
  <Words>920</Words>
  <Application>Microsoft Macintosh PowerPoint</Application>
  <PresentationFormat>Custom</PresentationFormat>
  <Paragraphs>155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Arial</vt:lpstr>
      <vt:lpstr>Arial Black</vt:lpstr>
      <vt:lpstr>Calibri</vt:lpstr>
      <vt:lpstr>Montserrat</vt:lpstr>
      <vt:lpstr>Montserrat Black</vt:lpstr>
      <vt:lpstr>Silka</vt:lpstr>
      <vt:lpstr>Silka Bold</vt:lpstr>
      <vt:lpstr>Silka Light</vt:lpstr>
      <vt:lpstr>Silka Medium</vt:lpstr>
      <vt:lpstr>Silka SemiBold</vt:lpstr>
      <vt:lpstr>Office Theme</vt:lpstr>
      <vt:lpstr>PowerPoint Presentation</vt:lpstr>
      <vt:lpstr>Motivation</vt:lpstr>
      <vt:lpstr>PowerPoint Presentation</vt:lpstr>
      <vt:lpstr>PowerPoint Presentation</vt:lpstr>
      <vt:lpstr>PowerPoint Presentation</vt:lpstr>
      <vt:lpstr>Survey data </vt:lpstr>
      <vt:lpstr>High spatial resolution environmental data Movactiva data</vt:lpstr>
      <vt:lpstr>First Analysis</vt:lpstr>
      <vt:lpstr>Proximity perception probability</vt:lpstr>
      <vt:lpstr>Proximity perception probability</vt:lpstr>
      <vt:lpstr>Proximity perception probability</vt:lpstr>
      <vt:lpstr>Second Analysis</vt:lpstr>
      <vt:lpstr>Mode choice Dependent in perceived and objective accessibility</vt:lpstr>
      <vt:lpstr>Average Marginal Effects Change in walking probability due to changes  in one unit of the independent attribute</vt:lpstr>
      <vt:lpstr>Discussion </vt:lpstr>
      <vt:lpstr>Thank you! jaime.orrego@uab.cat https://gemott-uab.cat/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PLANTILLA_PRESENTACION_GEMOTT</dc:title>
  <dc:creator>Laia Mojica</dc:creator>
  <cp:keywords>DAFA20fPjQQ,BADY4CIepoo</cp:keywords>
  <cp:lastModifiedBy>Jaime Pablo Orrego Oñate</cp:lastModifiedBy>
  <cp:revision>10</cp:revision>
  <dcterms:created xsi:type="dcterms:W3CDTF">2023-06-08T15:28:17Z</dcterms:created>
  <dcterms:modified xsi:type="dcterms:W3CDTF">2026-04-21T14:54:17Z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2023-06-08T00:00:00Z</vt:filetime>
  </property>
  <property fmtid="{D5CDD505-2E9C-101B-9397-08002B2CF9AE}" pid="3" name="Creator">
    <vt:lpwstr>Adobe Illustrator 25.0 (Macintosh)</vt:lpwstr>
  </property>
  <property fmtid="{D5CDD505-2E9C-101B-9397-08002B2CF9AE}" pid="4" name="LastSaved">
    <vt:filetime>2023-06-08T00:00:00Z</vt:filetime>
  </property>
  <property fmtid="{D5CDD505-2E9C-101B-9397-08002B2CF9AE}" pid="5" name="Producer">
    <vt:lpwstr>Adobe PDF library 15.00</vt:lpwstr>
  </property>
  <property fmtid="{D5CDD505-2E9C-101B-9397-08002B2CF9AE}" pid="6" name="xd_ProgID">
    <vt:lpwstr/>
  </property>
  <property fmtid="{D5CDD505-2E9C-101B-9397-08002B2CF9AE}" pid="7" name="MediaServiceImageTags">
    <vt:lpwstr/>
  </property>
  <property fmtid="{D5CDD505-2E9C-101B-9397-08002B2CF9AE}" pid="8" name="ContentTypeId">
    <vt:lpwstr>0x0101009F8C2E77B3FF4642AD4A10741A6F5C3D</vt:lpwstr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  <property fmtid="{D5CDD505-2E9C-101B-9397-08002B2CF9AE}" pid="13" name="xd_Signature">
    <vt:bool>false</vt:bool>
  </property>
</Properties>
</file>